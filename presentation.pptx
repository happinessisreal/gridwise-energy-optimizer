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[0:00 - 0:25] Welcome judges. This is GridWise, our solution for the BUP CSE Fest 2026 Smart Campus Energy Optimization Challenge. Universities manage rooftop solar, dynamic tariffs, and battery storage, while facility managers provide unstructured constraints. GridWise bridges natural language directives with mathematically provable linear optimization.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[0:25 - 0:55] Our core design philosophy: never trust generative AI with raw microgrid math. We built a decoupled 4-stage pipeline. Stage 1 validates schemas. Stage 2 uses DeepSeek or Groq for semantic extraction, backed by an offline regex engine. Stage 3 normalizes constraints deterministically. Stage 4 executes continuous linear programming in SciPy HiGHS, validated by an independent physics replay.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[0:55 - 1:35] Before reaching the LP solver, every directive must pass our guardrail layer. We enforce the invariant that applies is false if and only if directive_type is no_op. We hardened the system against real-world adversarial attacks: disambiguating 'reduced by' vs 'reduced to', handling noon-crossing intervals, and preventing substring collisions. Our 91-test adversarial suite verifies zero crashes and complete secret protection.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[1:35 - 2:15] At the core is our optimization engine, formulated as a continuous Linear Program with 96 decision variables and 73 constraints. Solved using SciPy's HiGHS solver, it guarantees the global mathematical minimum cost in under 5 milliseconds. Crucially, it enforces end-of-day battery neutrality, ensuring starting energy equals ending energy.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[2:15 - 2:45] Here is the live verification against the 10 official reference samples. GridWise achieved 100% directive extraction precision and exactly 0.0000 BDT cost difference across all test cases. In addition, our 91 adversarial tests pass with zero exceptions.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[2:45 - 3:00] In conclusion, GridWise is fully production-ready, passing every single pre-submit criterion with a live cloud API, GHCR Docker container, and 100% benchmark accuracy. Thank you to the BUP CSE Fest committee and Poridhi.io!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14400" y="1188720"/>
            <a:ext cx="137160" cy="4389120"/>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0160" y="1097280"/>
            <a:ext cx="10058400" cy="4572000"/>
          </a:xfrm>
          <a:prstGeom prst="rect">
            <a:avLst/>
          </a:prstGeom>
          <a:noFill/>
        </p:spPr>
        <p:txBody>
          <a:bodyPr wrap="square">
            <a:spAutoFit/>
          </a:bodyPr>
          <a:lstStyle/>
          <a:p>
            <a:pPr>
              <a:spcAft>
                <a:spcPts val="1400"/>
              </a:spcAft>
              <a:defRPr sz="1400" b="1">
                <a:solidFill>
                  <a:srgbClr val="0EA5E9"/>
                </a:solidFill>
                <a:latin typeface="Segoe UI"/>
              </a:defRPr>
            </a:pPr>
            <a:r>
              <a:t>BUP CSE FEST 2026 HACKATHON · PRELIMINARY ROUND</a:t>
            </a:r>
          </a:p>
          <a:p>
            <a:pPr>
              <a:spcAft>
                <a:spcPts val="1000"/>
              </a:spcAft>
              <a:defRPr sz="4400" b="1">
                <a:solidFill>
                  <a:srgbClr val="F8FAFC"/>
                </a:solidFill>
                <a:latin typeface="Segoe UI"/>
              </a:defRPr>
            </a:pPr>
            <a:r>
              <a:t>GridWise Energy Optimizer</a:t>
            </a:r>
          </a:p>
          <a:p>
            <a:pPr>
              <a:spcAft>
                <a:spcPts val="3600"/>
              </a:spcAft>
              <a:defRPr sz="1800">
                <a:solidFill>
                  <a:srgbClr val="94A3B8"/>
                </a:solidFill>
                <a:latin typeface="Segoe UI"/>
              </a:defRPr>
            </a:pPr>
            <a:r>
              <a:t>Provably Optimal Smart Campus Microgrid Management via Deep LLM Directive Interpretation and SciPy HiGHS Linear Programming</a:t>
            </a:r>
          </a:p>
          <a:p>
            <a:pPr>
              <a:defRPr sz="1400">
                <a:solidFill>
                  <a:srgbClr val="10B981"/>
                </a:solidFill>
                <a:latin typeface="Segoe UI"/>
              </a:defRPr>
            </a:pPr>
            <a:r>
              <a:t>Track: Smart Campus Energy Optimization (GridWise LLM)    |    Duration: 3-Minute Defense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48640"/>
            <a:ext cx="10332720" cy="914400"/>
          </a:xfrm>
          <a:prstGeom prst="rect">
            <a:avLst/>
          </a:prstGeom>
          <a:noFill/>
        </p:spPr>
        <p:txBody>
          <a:bodyPr wrap="none">
            <a:spAutoFit/>
          </a:bodyPr>
          <a:lstStyle/>
          <a:p>
            <a:pPr>
              <a:defRPr sz="2600" b="1">
                <a:solidFill>
                  <a:srgbClr val="F8FAFC"/>
                </a:solidFill>
                <a:latin typeface="Segoe UI"/>
              </a:defRPr>
            </a:pPr>
            <a:r>
              <a:t>System Architecture: Decoupled 4-Stage Pipeline</a:t>
            </a:r>
          </a:p>
          <a:p>
            <a:pPr>
              <a:defRPr sz="1400">
                <a:solidFill>
                  <a:srgbClr val="0EA5E9"/>
                </a:solidFill>
                <a:latin typeface="Segoe UI"/>
              </a:defRPr>
            </a:pPr>
            <a:r>
              <a:t>Philosophy: Never trust generative AI with raw microgrid arithmetic or physical laws.</a:t>
            </a:r>
          </a:p>
        </p:txBody>
      </p:sp>
      <p:sp>
        <p:nvSpPr>
          <p:cNvPr id="4" name="Rounded Rectangle 3"/>
          <p:cNvSpPr/>
          <p:nvPr/>
        </p:nvSpPr>
        <p:spPr>
          <a:xfrm>
            <a:off x="914400" y="1645920"/>
            <a:ext cx="2423160" cy="4572000"/>
          </a:xfrm>
          <a:prstGeom prst="roundRect">
            <a:avLst/>
          </a:prstGeom>
          <a:solidFill>
            <a:srgbClr val="1E293B"/>
          </a:solidFill>
          <a:ln w="1905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828800"/>
            <a:ext cx="2057400" cy="4206240"/>
          </a:xfrm>
          <a:prstGeom prst="rect">
            <a:avLst/>
          </a:prstGeom>
          <a:noFill/>
        </p:spPr>
        <p:txBody>
          <a:bodyPr wrap="square">
            <a:spAutoFit/>
          </a:bodyPr>
          <a:lstStyle/>
          <a:p>
            <a:pPr>
              <a:defRPr sz="1100" b="1">
                <a:solidFill>
                  <a:srgbClr val="0EA5E9"/>
                </a:solidFill>
                <a:latin typeface="Segoe UI"/>
              </a:defRPr>
            </a:pPr>
            <a:r>
              <a:t>STAGE 01</a:t>
            </a:r>
          </a:p>
          <a:p>
            <a:pPr>
              <a:spcAft>
                <a:spcPts val="400"/>
              </a:spcAft>
              <a:defRPr sz="1600" b="1">
                <a:solidFill>
                  <a:srgbClr val="F8FAFC"/>
                </a:solidFill>
                <a:latin typeface="Segoe UI"/>
              </a:defRPr>
            </a:pPr>
            <a:r>
              <a:t>Strict Ingestion</a:t>
            </a:r>
          </a:p>
          <a:p>
            <a:pPr>
              <a:spcAft>
                <a:spcPts val="1400"/>
              </a:spcAft>
              <a:defRPr sz="1200" i="1">
                <a:solidFill>
                  <a:srgbClr val="94A3B8"/>
                </a:solidFill>
                <a:latin typeface="Segoe UI"/>
              </a:defRPr>
            </a:pPr>
            <a:r>
              <a:t>FastAPI &amp; Pydantic v2</a:t>
            </a:r>
          </a:p>
          <a:p>
            <a:pPr>
              <a:spcAft>
                <a:spcPts val="800"/>
              </a:spcAft>
              <a:defRPr sz="1100">
                <a:solidFill>
                  <a:srgbClr val="F8FAFC"/>
                </a:solidFill>
                <a:latin typeface="Segoe UI"/>
              </a:defRPr>
            </a:pPr>
            <a:r>
              <a:t>• Strict POST /optimize-energy contract</a:t>
            </a:r>
          </a:p>
          <a:p>
            <a:pPr>
              <a:spcAft>
                <a:spcPts val="800"/>
              </a:spcAft>
              <a:defRPr sz="1100">
                <a:solidFill>
                  <a:srgbClr val="F8FAFC"/>
                </a:solidFill>
                <a:latin typeface="Segoe UI"/>
              </a:defRPr>
            </a:pPr>
            <a:r>
              <a:t>• Relational schema validation (E0 &lt;= capacity)</a:t>
            </a:r>
          </a:p>
          <a:p>
            <a:pPr>
              <a:spcAft>
                <a:spcPts val="800"/>
              </a:spcAft>
              <a:defRPr sz="1100">
                <a:solidFill>
                  <a:srgbClr val="F8FAFC"/>
                </a:solidFill>
                <a:latin typeface="Segoe UI"/>
              </a:defRPr>
            </a:pPr>
            <a:r>
              <a:t>• Sanitizes NaN, Inf, non-finite floats</a:t>
            </a:r>
          </a:p>
          <a:p>
            <a:pPr>
              <a:spcAft>
                <a:spcPts val="800"/>
              </a:spcAft>
              <a:defRPr sz="1100">
                <a:solidFill>
                  <a:srgbClr val="F8FAFC"/>
                </a:solidFill>
                <a:latin typeface="Segoe UI"/>
              </a:defRPr>
            </a:pPr>
            <a:r>
              <a:t>• Fails fast with HTTP 400 on malformed payloads</a:t>
            </a:r>
          </a:p>
        </p:txBody>
      </p:sp>
      <p:sp>
        <p:nvSpPr>
          <p:cNvPr id="6" name="Rounded Rectangle 5"/>
          <p:cNvSpPr/>
          <p:nvPr/>
        </p:nvSpPr>
        <p:spPr>
          <a:xfrm>
            <a:off x="3557016" y="1645920"/>
            <a:ext cx="2423160" cy="4572000"/>
          </a:xfrm>
          <a:prstGeom prst="roundRect">
            <a:avLst/>
          </a:prstGeom>
          <a:solidFill>
            <a:srgbClr val="1E293B"/>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739896" y="1828800"/>
            <a:ext cx="2057400" cy="4206240"/>
          </a:xfrm>
          <a:prstGeom prst="rect">
            <a:avLst/>
          </a:prstGeom>
          <a:noFill/>
        </p:spPr>
        <p:txBody>
          <a:bodyPr wrap="square">
            <a:spAutoFit/>
          </a:bodyPr>
          <a:lstStyle/>
          <a:p>
            <a:pPr>
              <a:defRPr sz="1100" b="1">
                <a:solidFill>
                  <a:srgbClr val="F59E0B"/>
                </a:solidFill>
                <a:latin typeface="Segoe UI"/>
              </a:defRPr>
            </a:pPr>
            <a:r>
              <a:t>STAGE 02</a:t>
            </a:r>
          </a:p>
          <a:p>
            <a:pPr>
              <a:spcAft>
                <a:spcPts val="400"/>
              </a:spcAft>
              <a:defRPr sz="1600" b="1">
                <a:solidFill>
                  <a:srgbClr val="F8FAFC"/>
                </a:solidFill>
                <a:latin typeface="Segoe UI"/>
              </a:defRPr>
            </a:pPr>
            <a:r>
              <a:t>LLM Interpreter</a:t>
            </a:r>
          </a:p>
          <a:p>
            <a:pPr>
              <a:spcAft>
                <a:spcPts val="1400"/>
              </a:spcAft>
              <a:defRPr sz="1200" i="1">
                <a:solidFill>
                  <a:srgbClr val="94A3B8"/>
                </a:solidFill>
                <a:latin typeface="Segoe UI"/>
              </a:defRPr>
            </a:pPr>
            <a:r>
              <a:t>Multi-Provider + Fallback</a:t>
            </a:r>
          </a:p>
          <a:p>
            <a:pPr>
              <a:spcAft>
                <a:spcPts val="800"/>
              </a:spcAft>
              <a:defRPr sz="1100">
                <a:solidFill>
                  <a:srgbClr val="F8FAFC"/>
                </a:solidFill>
                <a:latin typeface="Segoe UI"/>
              </a:defRPr>
            </a:pPr>
            <a:r>
              <a:t>• Zero-shot prompting on DeepSeek-V3 / Groq / OpenAI</a:t>
            </a:r>
          </a:p>
          <a:p>
            <a:pPr>
              <a:spcAft>
                <a:spcPts val="800"/>
              </a:spcAft>
              <a:defRPr sz="1100">
                <a:solidFill>
                  <a:srgbClr val="F8FAFC"/>
                </a:solidFill>
                <a:latin typeface="Segoe UI"/>
              </a:defRPr>
            </a:pPr>
            <a:r>
              <a:t>• Direct JSON schema output format</a:t>
            </a:r>
          </a:p>
          <a:p>
            <a:pPr>
              <a:spcAft>
                <a:spcPts val="800"/>
              </a:spcAft>
              <a:defRPr sz="1100">
                <a:solidFill>
                  <a:srgbClr val="F8FAFC"/>
                </a:solidFill>
                <a:latin typeface="Segoe UI"/>
              </a:defRPr>
            </a:pPr>
            <a:r>
              <a:t>• Discriminates operational notes vs distractor chatter</a:t>
            </a:r>
          </a:p>
          <a:p>
            <a:pPr>
              <a:spcAft>
                <a:spcPts val="800"/>
              </a:spcAft>
              <a:defRPr sz="1100">
                <a:solidFill>
                  <a:srgbClr val="F8FAFC"/>
                </a:solidFill>
                <a:latin typeface="Segoe UI"/>
              </a:defRPr>
            </a:pPr>
            <a:r>
              <a:t>• Built-in offline regex fallback ensures 0% downtime</a:t>
            </a:r>
          </a:p>
        </p:txBody>
      </p:sp>
      <p:sp>
        <p:nvSpPr>
          <p:cNvPr id="8" name="Rounded Rectangle 7"/>
          <p:cNvSpPr/>
          <p:nvPr/>
        </p:nvSpPr>
        <p:spPr>
          <a:xfrm>
            <a:off x="6199632" y="1645920"/>
            <a:ext cx="2423160" cy="4572000"/>
          </a:xfrm>
          <a:prstGeom prst="roundRect">
            <a:avLst/>
          </a:prstGeom>
          <a:solidFill>
            <a:srgbClr val="1E293B"/>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82512" y="1828800"/>
            <a:ext cx="2057400" cy="4206240"/>
          </a:xfrm>
          <a:prstGeom prst="rect">
            <a:avLst/>
          </a:prstGeom>
          <a:noFill/>
        </p:spPr>
        <p:txBody>
          <a:bodyPr wrap="square">
            <a:spAutoFit/>
          </a:bodyPr>
          <a:lstStyle/>
          <a:p>
            <a:pPr>
              <a:defRPr sz="1100" b="1">
                <a:solidFill>
                  <a:srgbClr val="10B981"/>
                </a:solidFill>
                <a:latin typeface="Segoe UI"/>
              </a:defRPr>
            </a:pPr>
            <a:r>
              <a:t>STAGE 03</a:t>
            </a:r>
          </a:p>
          <a:p>
            <a:pPr>
              <a:spcAft>
                <a:spcPts val="400"/>
              </a:spcAft>
              <a:defRPr sz="1600" b="1">
                <a:solidFill>
                  <a:srgbClr val="F8FAFC"/>
                </a:solidFill>
                <a:latin typeface="Segoe UI"/>
              </a:defRPr>
            </a:pPr>
            <a:r>
              <a:t>Guardrail Normalizer</a:t>
            </a:r>
          </a:p>
          <a:p>
            <a:pPr>
              <a:spcAft>
                <a:spcPts val="1400"/>
              </a:spcAft>
              <a:defRPr sz="1200" i="1">
                <a:solidFill>
                  <a:srgbClr val="94A3B8"/>
                </a:solidFill>
                <a:latin typeface="Segoe UI"/>
              </a:defRPr>
            </a:pPr>
            <a:r>
              <a:t>Deterministic Rules</a:t>
            </a:r>
          </a:p>
          <a:p>
            <a:pPr>
              <a:spcAft>
                <a:spcPts val="800"/>
              </a:spcAft>
              <a:defRPr sz="1100">
                <a:solidFill>
                  <a:srgbClr val="F8FAFC"/>
                </a:solidFill>
                <a:latin typeface="Segoe UI"/>
              </a:defRPr>
            </a:pPr>
            <a:r>
              <a:t>• Invariant: applies == False &lt;=&gt; no_op</a:t>
            </a:r>
          </a:p>
          <a:p>
            <a:pPr>
              <a:spcAft>
                <a:spcPts val="800"/>
              </a:spcAft>
              <a:defRPr sz="1100">
                <a:solidFill>
                  <a:srgbClr val="F8FAFC"/>
                </a:solidFill>
                <a:latin typeface="Segoe UI"/>
              </a:defRPr>
            </a:pPr>
            <a:r>
              <a:t>• Hour window normalization ([0..23], ascending)</a:t>
            </a:r>
          </a:p>
          <a:p>
            <a:pPr>
              <a:spcAft>
                <a:spcPts val="800"/>
              </a:spcAft>
              <a:defRPr sz="1100">
                <a:solidFill>
                  <a:srgbClr val="F8FAFC"/>
                </a:solidFill>
                <a:latin typeface="Segoe UI"/>
              </a:defRPr>
            </a:pPr>
            <a:r>
              <a:t>• Disambiguates 'reduced by' vs 'reduced to'</a:t>
            </a:r>
          </a:p>
          <a:p>
            <a:pPr>
              <a:spcAft>
                <a:spcPts val="800"/>
              </a:spcAft>
              <a:defRPr sz="1100">
                <a:solidFill>
                  <a:srgbClr val="F8FAFC"/>
                </a:solidFill>
                <a:latin typeface="Segoe UI"/>
              </a:defRPr>
            </a:pPr>
            <a:r>
              <a:t>• Converts percentage battery reserves to kWh</a:t>
            </a:r>
          </a:p>
        </p:txBody>
      </p:sp>
      <p:sp>
        <p:nvSpPr>
          <p:cNvPr id="10" name="Rounded Rectangle 9"/>
          <p:cNvSpPr/>
          <p:nvPr/>
        </p:nvSpPr>
        <p:spPr>
          <a:xfrm>
            <a:off x="8842248" y="1645920"/>
            <a:ext cx="2423160" cy="4572000"/>
          </a:xfrm>
          <a:prstGeom prst="roundRect">
            <a:avLst/>
          </a:prstGeom>
          <a:solidFill>
            <a:srgbClr val="1E293B"/>
          </a:solidFill>
          <a:ln w="19050">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025128" y="1828800"/>
            <a:ext cx="2057400" cy="4206240"/>
          </a:xfrm>
          <a:prstGeom prst="rect">
            <a:avLst/>
          </a:prstGeom>
          <a:noFill/>
        </p:spPr>
        <p:txBody>
          <a:bodyPr wrap="square">
            <a:spAutoFit/>
          </a:bodyPr>
          <a:lstStyle/>
          <a:p>
            <a:pPr>
              <a:defRPr sz="1100" b="1">
                <a:solidFill>
                  <a:srgbClr val="F8FAFC"/>
                </a:solidFill>
                <a:latin typeface="Segoe UI"/>
              </a:defRPr>
            </a:pPr>
            <a:r>
              <a:t>STAGE 04</a:t>
            </a:r>
          </a:p>
          <a:p>
            <a:pPr>
              <a:spcAft>
                <a:spcPts val="400"/>
              </a:spcAft>
              <a:defRPr sz="1600" b="1">
                <a:solidFill>
                  <a:srgbClr val="F8FAFC"/>
                </a:solidFill>
                <a:latin typeface="Segoe UI"/>
              </a:defRPr>
            </a:pPr>
            <a:r>
              <a:t>HiGHS LP &amp; Replay</a:t>
            </a:r>
          </a:p>
          <a:p>
            <a:pPr>
              <a:spcAft>
                <a:spcPts val="1400"/>
              </a:spcAft>
              <a:defRPr sz="1200" i="1">
                <a:solidFill>
                  <a:srgbClr val="94A3B8"/>
                </a:solidFill>
                <a:latin typeface="Segoe UI"/>
              </a:defRPr>
            </a:pPr>
            <a:r>
              <a:t>SciPy Continuous Solver</a:t>
            </a:r>
          </a:p>
          <a:p>
            <a:pPr>
              <a:spcAft>
                <a:spcPts val="800"/>
              </a:spcAft>
              <a:defRPr sz="1100">
                <a:solidFill>
                  <a:srgbClr val="F8FAFC"/>
                </a:solidFill>
                <a:latin typeface="Segoe UI"/>
              </a:defRPr>
            </a:pPr>
            <a:r>
              <a:t>• 96 decision variables, 73 microgrid constraints</a:t>
            </a:r>
          </a:p>
          <a:p>
            <a:pPr>
              <a:spcAft>
                <a:spcPts val="800"/>
              </a:spcAft>
              <a:defRPr sz="1100">
                <a:solidFill>
                  <a:srgbClr val="F8FAFC"/>
                </a:solidFill>
                <a:latin typeface="Segoe UI"/>
              </a:defRPr>
            </a:pPr>
            <a:r>
              <a:t>• Guarantees exact mathematical global minimum</a:t>
            </a:r>
          </a:p>
          <a:p>
            <a:pPr>
              <a:spcAft>
                <a:spcPts val="800"/>
              </a:spcAft>
              <a:defRPr sz="1100">
                <a:solidFill>
                  <a:srgbClr val="F8FAFC"/>
                </a:solidFill>
                <a:latin typeface="Segoe UI"/>
              </a:defRPr>
            </a:pPr>
            <a:r>
              <a:t>• Solves in &lt; 5 milliseconds</a:t>
            </a:r>
          </a:p>
          <a:p>
            <a:pPr>
              <a:spcAft>
                <a:spcPts val="800"/>
              </a:spcAft>
              <a:defRPr sz="1100">
                <a:solidFill>
                  <a:srgbClr val="F8FAFC"/>
                </a:solidFill>
                <a:latin typeface="Segoe UI"/>
              </a:defRPr>
            </a:pPr>
            <a:r>
              <a:t>• Independent physics replay validates all 7 laws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48640"/>
            <a:ext cx="10332720" cy="914400"/>
          </a:xfrm>
          <a:prstGeom prst="rect">
            <a:avLst/>
          </a:prstGeom>
          <a:noFill/>
        </p:spPr>
        <p:txBody>
          <a:bodyPr wrap="none">
            <a:spAutoFit/>
          </a:bodyPr>
          <a:lstStyle/>
          <a:p>
            <a:pPr>
              <a:defRPr sz="2600" b="1">
                <a:solidFill>
                  <a:srgbClr val="F8FAFC"/>
                </a:solidFill>
                <a:latin typeface="Segoe UI"/>
              </a:defRPr>
            </a:pPr>
            <a:r>
              <a:t>Deterministic Guardrails &amp; Adversarial Hardening</a:t>
            </a:r>
          </a:p>
          <a:p>
            <a:pPr>
              <a:defRPr sz="1400">
                <a:solidFill>
                  <a:srgbClr val="0EA5E9"/>
                </a:solidFill>
                <a:latin typeface="Segoe UI"/>
              </a:defRPr>
            </a:pPr>
            <a:r>
              <a:t>Validated against 91 attack vectors: zero unhandled crashes, zero constraint leaks, safe error responses.</a:t>
            </a:r>
          </a:p>
        </p:txBody>
      </p:sp>
      <p:sp>
        <p:nvSpPr>
          <p:cNvPr id="4" name="Rounded Rectangle 3"/>
          <p:cNvSpPr/>
          <p:nvPr/>
        </p:nvSpPr>
        <p:spPr>
          <a:xfrm>
            <a:off x="914400" y="1645920"/>
            <a:ext cx="3291840" cy="4572000"/>
          </a:xfrm>
          <a:prstGeom prst="roundRect">
            <a:avLst/>
          </a:prstGeom>
          <a:solidFill>
            <a:srgbClr val="1E293B"/>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828800"/>
            <a:ext cx="2926080" cy="4206240"/>
          </a:xfrm>
          <a:prstGeom prst="rect">
            <a:avLst/>
          </a:prstGeom>
          <a:noFill/>
        </p:spPr>
        <p:txBody>
          <a:bodyPr wrap="square">
            <a:spAutoFit/>
          </a:bodyPr>
          <a:lstStyle/>
          <a:p>
            <a:pPr>
              <a:spcAft>
                <a:spcPts val="1600"/>
              </a:spcAft>
              <a:defRPr sz="1700" b="1">
                <a:solidFill>
                  <a:srgbClr val="10B981"/>
                </a:solidFill>
                <a:latin typeface="Segoe UI"/>
              </a:defRPr>
            </a:pPr>
            <a:r>
              <a:t>Invariant Enforcement</a:t>
            </a:r>
          </a:p>
          <a:p>
            <a:pPr>
              <a:spcAft>
                <a:spcPts val="1200"/>
              </a:spcAft>
              <a:defRPr sz="1200">
                <a:solidFill>
                  <a:srgbClr val="F8FAFC"/>
                </a:solidFill>
                <a:latin typeface="Segoe UI"/>
              </a:defRPr>
            </a:pPr>
            <a:r>
              <a:t>• Mandatory Invariant:</a:t>
            </a:r>
            <a:br/>
            <a:r>
              <a:t>applies == False &lt;=&gt; directive_type == 'no_op'</a:t>
            </a:r>
          </a:p>
          <a:p>
            <a:pPr>
              <a:spcAft>
                <a:spcPts val="1200"/>
              </a:spcAft>
              <a:defRPr sz="1200">
                <a:solidFill>
                  <a:srgbClr val="F8FAFC"/>
                </a:solidFill>
                <a:latin typeface="Segoe UI"/>
              </a:defRPr>
            </a:pPr>
            <a:r>
              <a:t>• Nullifies unrecognized or corrupted directives safely into no_op.</a:t>
            </a:r>
          </a:p>
          <a:p>
            <a:pPr>
              <a:spcAft>
                <a:spcPts val="1200"/>
              </a:spcAft>
              <a:defRPr sz="1200">
                <a:solidFill>
                  <a:srgbClr val="F8FAFC"/>
                </a:solidFill>
                <a:latin typeface="Segoe UI"/>
              </a:defRPr>
            </a:pPr>
            <a:r>
              <a:t>• Enforces unique, strictly ascending hour arrays within [0, 23].</a:t>
            </a:r>
          </a:p>
          <a:p>
            <a:pPr>
              <a:spcAft>
                <a:spcPts val="1200"/>
              </a:spcAft>
              <a:defRPr sz="1200">
                <a:solidFill>
                  <a:srgbClr val="F8FAFC"/>
                </a:solidFill>
                <a:latin typeface="Segoe UI"/>
              </a:defRPr>
            </a:pPr>
            <a:r>
              <a:t>• Clamps solar factors strictly between 0.0 and 1.0.</a:t>
            </a:r>
          </a:p>
        </p:txBody>
      </p:sp>
      <p:sp>
        <p:nvSpPr>
          <p:cNvPr id="6" name="Rounded Rectangle 5"/>
          <p:cNvSpPr/>
          <p:nvPr/>
        </p:nvSpPr>
        <p:spPr>
          <a:xfrm>
            <a:off x="4443984" y="1645920"/>
            <a:ext cx="3291840" cy="4572000"/>
          </a:xfrm>
          <a:prstGeom prst="roundRect">
            <a:avLst/>
          </a:prstGeom>
          <a:solidFill>
            <a:srgbClr val="1E293B"/>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26864" y="1828800"/>
            <a:ext cx="2926080" cy="4206240"/>
          </a:xfrm>
          <a:prstGeom prst="rect">
            <a:avLst/>
          </a:prstGeom>
          <a:noFill/>
        </p:spPr>
        <p:txBody>
          <a:bodyPr wrap="square">
            <a:spAutoFit/>
          </a:bodyPr>
          <a:lstStyle/>
          <a:p>
            <a:pPr>
              <a:spcAft>
                <a:spcPts val="1600"/>
              </a:spcAft>
              <a:defRPr sz="1700" b="1">
                <a:solidFill>
                  <a:srgbClr val="F59E0B"/>
                </a:solidFill>
                <a:latin typeface="Segoe UI"/>
              </a:defRPr>
            </a:pPr>
            <a:r>
              <a:t>Semantic Disambiguation</a:t>
            </a:r>
          </a:p>
          <a:p>
            <a:pPr>
              <a:spcAft>
                <a:spcPts val="1200"/>
              </a:spcAft>
              <a:defRPr sz="1200">
                <a:solidFill>
                  <a:srgbClr val="F8FAFC"/>
                </a:solidFill>
                <a:latin typeface="Segoe UI"/>
              </a:defRPr>
            </a:pPr>
            <a:r>
              <a:t>• Factor Inversion Disambiguation:</a:t>
            </a:r>
            <a:br/>
            <a:r>
              <a:t>'reduced by 80%' -&gt; factor = 0.20</a:t>
            </a:r>
            <a:br/>
            <a:r>
              <a:t>'reduced to 20%' -&gt; factor = 0.20</a:t>
            </a:r>
          </a:p>
          <a:p>
            <a:pPr>
              <a:spcAft>
                <a:spcPts val="1200"/>
              </a:spcAft>
              <a:defRPr sz="1200">
                <a:solidFill>
                  <a:srgbClr val="F8FAFC"/>
                </a:solidFill>
                <a:latin typeface="Segoe UI"/>
              </a:defRPr>
            </a:pPr>
            <a:r>
              <a:t>• Time Window Resolution:</a:t>
            </a:r>
            <a:br/>
            <a:r>
              <a:t>'11 to 2 pm' -&gt; [11, 12, 13]</a:t>
            </a:r>
            <a:br/>
            <a:r>
              <a:t>'10 pm to midnight' -&gt; [22, 23]</a:t>
            </a:r>
          </a:p>
          <a:p>
            <a:pPr>
              <a:spcAft>
                <a:spcPts val="1200"/>
              </a:spcAft>
              <a:defRPr sz="1200">
                <a:solidFill>
                  <a:srgbClr val="F8FAFC"/>
                </a:solidFill>
                <a:latin typeface="Segoe UI"/>
              </a:defRPr>
            </a:pPr>
            <a:r>
              <a:t>• Battery Substring Discrimination:</a:t>
            </a:r>
            <a:br/>
            <a:r>
              <a:t>Prevents 'discharge' notes from matching 'no_charge_window'.</a:t>
            </a:r>
          </a:p>
        </p:txBody>
      </p:sp>
      <p:sp>
        <p:nvSpPr>
          <p:cNvPr id="8" name="Rounded Rectangle 7"/>
          <p:cNvSpPr/>
          <p:nvPr/>
        </p:nvSpPr>
        <p:spPr>
          <a:xfrm>
            <a:off x="7973568" y="1645920"/>
            <a:ext cx="3291840" cy="4572000"/>
          </a:xfrm>
          <a:prstGeom prst="roundRect">
            <a:avLst/>
          </a:prstGeom>
          <a:solidFill>
            <a:srgbClr val="1E293B"/>
          </a:solidFill>
          <a:ln w="1905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56448" y="1828800"/>
            <a:ext cx="2926080" cy="4206240"/>
          </a:xfrm>
          <a:prstGeom prst="rect">
            <a:avLst/>
          </a:prstGeom>
          <a:noFill/>
        </p:spPr>
        <p:txBody>
          <a:bodyPr wrap="square">
            <a:spAutoFit/>
          </a:bodyPr>
          <a:lstStyle/>
          <a:p>
            <a:pPr>
              <a:spcAft>
                <a:spcPts val="1600"/>
              </a:spcAft>
              <a:defRPr sz="1700" b="1">
                <a:solidFill>
                  <a:srgbClr val="0EA5E9"/>
                </a:solidFill>
                <a:latin typeface="Segoe UI"/>
              </a:defRPr>
            </a:pPr>
            <a:r>
              <a:t>API Resilience &amp; Security</a:t>
            </a:r>
          </a:p>
          <a:p>
            <a:pPr>
              <a:spcAft>
                <a:spcPts val="1200"/>
              </a:spcAft>
              <a:defRPr sz="1200">
                <a:solidFill>
                  <a:srgbClr val="F8FAFC"/>
                </a:solidFill>
                <a:latin typeface="Segoe UI"/>
              </a:defRPr>
            </a:pPr>
            <a:r>
              <a:t>• Relational Bounds:</a:t>
            </a:r>
            <a:br/>
            <a:r>
              <a:t>Rejects initial energy &gt; battery capacity with structured HTTP 400.</a:t>
            </a:r>
          </a:p>
          <a:p>
            <a:pPr>
              <a:spcAft>
                <a:spcPts val="1200"/>
              </a:spcAft>
              <a:defRPr sz="1200">
                <a:solidFill>
                  <a:srgbClr val="F8FAFC"/>
                </a:solidFill>
                <a:latin typeface="Segoe UI"/>
              </a:defRPr>
            </a:pPr>
            <a:r>
              <a:t>• Non-Finite Float Rejection:</a:t>
            </a:r>
            <a:br/>
            <a:r>
              <a:t>Blocks NaN and Inf injection attacks cleanly.</a:t>
            </a:r>
          </a:p>
          <a:p>
            <a:pPr>
              <a:spcAft>
                <a:spcPts val="1200"/>
              </a:spcAft>
              <a:defRPr sz="1200">
                <a:solidFill>
                  <a:srgbClr val="F8FAFC"/>
                </a:solidFill>
                <a:latin typeface="Segoe UI"/>
              </a:defRPr>
            </a:pPr>
            <a:r>
              <a:t>• Secret-Safe 500 Handler:</a:t>
            </a:r>
            <a:br/>
            <a:r>
              <a:t>Suppresses internal stack traces and environment variable leaks.</a:t>
            </a:r>
          </a:p>
          <a:p>
            <a:pPr>
              <a:spcAft>
                <a:spcPts val="1200"/>
              </a:spcAft>
              <a:defRPr sz="1200">
                <a:solidFill>
                  <a:srgbClr val="F8FAFC"/>
                </a:solidFill>
                <a:latin typeface="Segoe UI"/>
              </a:defRPr>
            </a:pPr>
            <a:r>
              <a:t>• Pydantic v2 strict models for all endpoints.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48640"/>
            <a:ext cx="10332720" cy="914400"/>
          </a:xfrm>
          <a:prstGeom prst="rect">
            <a:avLst/>
          </a:prstGeom>
          <a:noFill/>
        </p:spPr>
        <p:txBody>
          <a:bodyPr wrap="none">
            <a:spAutoFit/>
          </a:bodyPr>
          <a:lstStyle/>
          <a:p>
            <a:pPr>
              <a:defRPr sz="2600" b="1">
                <a:solidFill>
                  <a:srgbClr val="F8FAFC"/>
                </a:solidFill>
                <a:latin typeface="Segoe UI"/>
              </a:defRPr>
            </a:pPr>
            <a:r>
              <a:t>Microgrid Physics &amp; Continuous LP Formulation</a:t>
            </a:r>
          </a:p>
          <a:p>
            <a:pPr>
              <a:defRPr sz="1400">
                <a:solidFill>
                  <a:srgbClr val="0EA5E9"/>
                </a:solidFill>
                <a:latin typeface="Segoe UI"/>
              </a:defRPr>
            </a:pPr>
            <a:r>
              <a:t>Mathematical formulation solved via SciPy HiGHS Dual Simplex with 0.0000 BDT optimality.</a:t>
            </a:r>
          </a:p>
        </p:txBody>
      </p:sp>
      <p:sp>
        <p:nvSpPr>
          <p:cNvPr id="4" name="Rounded Rectangle 3"/>
          <p:cNvSpPr/>
          <p:nvPr/>
        </p:nvSpPr>
        <p:spPr>
          <a:xfrm>
            <a:off x="914400" y="1645920"/>
            <a:ext cx="6217920" cy="4572000"/>
          </a:xfrm>
          <a:prstGeom prst="roundRect">
            <a:avLst/>
          </a:prstGeom>
          <a:solidFill>
            <a:srgbClr val="1E293B"/>
          </a:solidFill>
          <a:ln w="1905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783080"/>
            <a:ext cx="5852160" cy="457200"/>
          </a:xfrm>
          <a:prstGeom prst="rect">
            <a:avLst/>
          </a:prstGeom>
          <a:noFill/>
        </p:spPr>
        <p:txBody>
          <a:bodyPr wrap="square">
            <a:spAutoFit/>
          </a:bodyPr>
          <a:lstStyle/>
          <a:p>
            <a:pPr>
              <a:defRPr sz="1400" b="1">
                <a:solidFill>
                  <a:srgbClr val="0EA5E9"/>
                </a:solidFill>
                <a:latin typeface="Segoe UI"/>
              </a:defRPr>
            </a:pPr>
            <a:r>
              <a:t>Mathematical LP Formulation (96 Variables)</a:t>
            </a:r>
          </a:p>
        </p:txBody>
      </p:sp>
      <p:sp>
        <p:nvSpPr>
          <p:cNvPr id="6" name="TextBox 5"/>
          <p:cNvSpPr txBox="1"/>
          <p:nvPr/>
        </p:nvSpPr>
        <p:spPr>
          <a:xfrm>
            <a:off x="1097280" y="2286000"/>
            <a:ext cx="5852160" cy="3749040"/>
          </a:xfrm>
          <a:prstGeom prst="rect">
            <a:avLst/>
          </a:prstGeom>
          <a:noFill/>
        </p:spPr>
        <p:txBody>
          <a:bodyPr wrap="square">
            <a:spAutoFit/>
          </a:bodyPr>
          <a:lstStyle/>
          <a:p>
            <a:pPr>
              <a:defRPr sz="1300" b="1">
                <a:solidFill>
                  <a:srgbClr val="10B981"/>
                </a:solidFill>
                <a:latin typeface="Segoe UI"/>
              </a:defRPr>
            </a:pPr>
            <a:r>
              <a:t>Objective Function (Minimizing Electricity Cost):</a:t>
            </a:r>
          </a:p>
          <a:p>
            <a:pPr>
              <a:spcAft>
                <a:spcPts val="1200"/>
              </a:spcAft>
              <a:defRPr sz="1200">
                <a:solidFill>
                  <a:srgbClr val="F8FAFC"/>
                </a:solidFill>
                <a:latin typeface="Consolas"/>
              </a:defRPr>
            </a:pPr>
            <a:r>
              <a:t>  min  Σ [ tariff[h] · grid[h] - 10⁻⁶ · solar[h] + 10⁻⁷ · (chg[h] + dis[h]) ]</a:t>
            </a:r>
          </a:p>
          <a:p>
            <a:pPr>
              <a:defRPr sz="1300" b="1">
                <a:solidFill>
                  <a:srgbClr val="F59E0B"/>
                </a:solidFill>
                <a:latin typeface="Segoe UI"/>
              </a:defRPr>
            </a:pPr>
            <a:r>
              <a:t>Microgrid Physical Laws Enforced (73 Constraints):</a:t>
            </a:r>
          </a:p>
          <a:p>
            <a:pPr>
              <a:spcAft>
                <a:spcPts val="300"/>
              </a:spcAft>
              <a:defRPr sz="1050">
                <a:solidFill>
                  <a:srgbClr val="F8FAFC"/>
                </a:solidFill>
                <a:latin typeface="Consolas"/>
              </a:defRPr>
            </a:pPr>
            <a:r>
              <a:t>  • 1. Campus Balance: grid[h] + solar[h] + dis[h] - chg[h] = demand[h]</a:t>
            </a:r>
          </a:p>
          <a:p>
            <a:pPr>
              <a:spcAft>
                <a:spcPts val="300"/>
              </a:spcAft>
              <a:defRPr sz="1050">
                <a:solidFill>
                  <a:srgbClr val="F8FAFC"/>
                </a:solidFill>
                <a:latin typeface="Consolas"/>
              </a:defRPr>
            </a:pPr>
            <a:r>
              <a:t>  • 2. Solar Curtailment: 0 &lt;= solar[h] &lt;= solar_forecast[h] * factor[h]</a:t>
            </a:r>
          </a:p>
          <a:p>
            <a:pPr>
              <a:spcAft>
                <a:spcPts val="300"/>
              </a:spcAft>
              <a:defRPr sz="1050">
                <a:solidFill>
                  <a:srgbClr val="F8FAFC"/>
                </a:solidFill>
                <a:latin typeface="Consolas"/>
              </a:defRPr>
            </a:pPr>
            <a:r>
              <a:t>  • 3. Inverter Limits: 0 &lt;= chg[h] &lt;= max_charge_rate,  0 &lt;= dis[h] &lt;= max_discharge_rate</a:t>
            </a:r>
          </a:p>
          <a:p>
            <a:pPr>
              <a:spcAft>
                <a:spcPts val="300"/>
              </a:spcAft>
              <a:defRPr sz="1050">
                <a:solidFill>
                  <a:srgbClr val="F8FAFC"/>
                </a:solidFill>
                <a:latin typeface="Consolas"/>
              </a:defRPr>
            </a:pPr>
            <a:r>
              <a:t>  • 4. Battery Storage: E[h+1] = E[h] + chg[h] - dis[h]  (0 &lt;= E[h] &lt;= capacity)</a:t>
            </a:r>
          </a:p>
          <a:p>
            <a:pPr>
              <a:spcAft>
                <a:spcPts val="300"/>
              </a:spcAft>
              <a:defRPr sz="1050">
                <a:solidFill>
                  <a:srgbClr val="F8FAFC"/>
                </a:solidFill>
                <a:latin typeface="Consolas"/>
              </a:defRPr>
            </a:pPr>
            <a:r>
              <a:t>  • 5. Dynamic Reserve: E[h] &gt;= max(base_reserve, directive_reserve[h])</a:t>
            </a:r>
          </a:p>
          <a:p>
            <a:pPr>
              <a:spcAft>
                <a:spcPts val="300"/>
              </a:spcAft>
              <a:defRPr sz="1050">
                <a:solidFill>
                  <a:srgbClr val="F8FAFC"/>
                </a:solidFill>
                <a:latin typeface="Consolas"/>
              </a:defRPr>
            </a:pPr>
            <a:r>
              <a:t>  • 6. End-of-Day Neutrality: E[24] = E[0]  (Crucial microgrid invariant!)</a:t>
            </a:r>
          </a:p>
          <a:p>
            <a:pPr>
              <a:spcAft>
                <a:spcPts val="300"/>
              </a:spcAft>
              <a:defRPr sz="1050">
                <a:solidFill>
                  <a:srgbClr val="F8FAFC"/>
                </a:solidFill>
                <a:latin typeface="Consolas"/>
              </a:defRPr>
            </a:pPr>
            <a:r>
              <a:t>  • 7. Feeder Windows: Directive hard caps on grid power &amp; battery lockout</a:t>
            </a:r>
          </a:p>
        </p:txBody>
      </p:sp>
      <p:sp>
        <p:nvSpPr>
          <p:cNvPr id="7" name="Rounded Rectangle 6"/>
          <p:cNvSpPr/>
          <p:nvPr/>
        </p:nvSpPr>
        <p:spPr>
          <a:xfrm>
            <a:off x="7351776" y="1645920"/>
            <a:ext cx="3931920" cy="4572000"/>
          </a:xfrm>
          <a:prstGeom prst="roundRect">
            <a:avLst/>
          </a:prstGeom>
          <a:solidFill>
            <a:srgbClr val="1E293B"/>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34656" y="1783080"/>
            <a:ext cx="3566160" cy="457200"/>
          </a:xfrm>
          <a:prstGeom prst="rect">
            <a:avLst/>
          </a:prstGeom>
          <a:noFill/>
        </p:spPr>
        <p:txBody>
          <a:bodyPr wrap="square">
            <a:spAutoFit/>
          </a:bodyPr>
          <a:lstStyle/>
          <a:p>
            <a:pPr>
              <a:defRPr sz="1400" b="1">
                <a:solidFill>
                  <a:srgbClr val="0EA5E9"/>
                </a:solidFill>
                <a:latin typeface="Segoe UI"/>
              </a:defRPr>
            </a:pPr>
            <a:r>
              <a:t>Performance &amp; Guarantees</a:t>
            </a:r>
          </a:p>
        </p:txBody>
      </p:sp>
      <p:sp>
        <p:nvSpPr>
          <p:cNvPr id="9" name="TextBox 8"/>
          <p:cNvSpPr txBox="1"/>
          <p:nvPr/>
        </p:nvSpPr>
        <p:spPr>
          <a:xfrm>
            <a:off x="7534656" y="2286000"/>
            <a:ext cx="3566160" cy="3749040"/>
          </a:xfrm>
          <a:prstGeom prst="rect">
            <a:avLst/>
          </a:prstGeom>
          <a:noFill/>
        </p:spPr>
        <p:txBody>
          <a:bodyPr wrap="square">
            <a:spAutoFit/>
          </a:bodyPr>
          <a:lstStyle/>
          <a:p>
            <a:pPr>
              <a:defRPr sz="1300" b="1">
                <a:solidFill>
                  <a:srgbClr val="10B981"/>
                </a:solidFill>
                <a:latin typeface="Segoe UI"/>
              </a:defRPr>
            </a:pPr>
            <a:r>
              <a:t>✔ Global Optimality</a:t>
            </a:r>
          </a:p>
          <a:p>
            <a:pPr>
              <a:spcAft>
                <a:spcPts val="1000"/>
              </a:spcAft>
              <a:defRPr sz="1100">
                <a:solidFill>
                  <a:srgbClr val="F8FAFC"/>
                </a:solidFill>
                <a:latin typeface="Segoe UI"/>
              </a:defRPr>
            </a:pPr>
            <a:r>
              <a:t>Convex continuous LP guarantees the global mathematical minimum cost. No local minima traps.</a:t>
            </a:r>
          </a:p>
          <a:p>
            <a:pPr>
              <a:defRPr sz="1300" b="1">
                <a:solidFill>
                  <a:srgbClr val="10B981"/>
                </a:solidFill>
                <a:latin typeface="Segoe UI"/>
              </a:defRPr>
            </a:pPr>
            <a:r>
              <a:t>✔ Blazing Fast</a:t>
            </a:r>
          </a:p>
          <a:p>
            <a:pPr>
              <a:spcAft>
                <a:spcPts val="1000"/>
              </a:spcAft>
              <a:defRPr sz="1100">
                <a:solidFill>
                  <a:srgbClr val="F8FAFC"/>
                </a:solidFill>
                <a:latin typeface="Segoe UI"/>
              </a:defRPr>
            </a:pPr>
            <a:r>
              <a:t>Solves all 24 hours in &lt; 5 milliseconds using SciPy HiGHS simplex solver.</a:t>
            </a:r>
          </a:p>
          <a:p>
            <a:pPr>
              <a:defRPr sz="1300" b="1">
                <a:solidFill>
                  <a:srgbClr val="10B981"/>
                </a:solidFill>
                <a:latin typeface="Segoe UI"/>
              </a:defRPr>
            </a:pPr>
            <a:r>
              <a:t>✔ Physics Replay Validator</a:t>
            </a:r>
          </a:p>
          <a:p>
            <a:pPr>
              <a:spcAft>
                <a:spcPts val="1000"/>
              </a:spcAft>
              <a:defRPr sz="1100">
                <a:solidFill>
                  <a:srgbClr val="F8FAFC"/>
                </a:solidFill>
                <a:latin typeface="Segoe UI"/>
              </a:defRPr>
            </a:pPr>
            <a:r>
              <a:t>Independent verification pass checks all 7 physical laws against resulting schedules before returning response.</a:t>
            </a:r>
          </a:p>
          <a:p>
            <a:pPr>
              <a:defRPr sz="1300" b="1">
                <a:solidFill>
                  <a:srgbClr val="10B981"/>
                </a:solidFill>
                <a:latin typeface="Segoe UI"/>
              </a:defRPr>
            </a:pPr>
            <a:r>
              <a:t>✔ Battery Neutrality</a:t>
            </a:r>
          </a:p>
          <a:p>
            <a:pPr>
              <a:spcAft>
                <a:spcPts val="1000"/>
              </a:spcAft>
              <a:defRPr sz="1100">
                <a:solidFill>
                  <a:srgbClr val="F8FAFC"/>
                </a:solidFill>
                <a:latin typeface="Segoe UI"/>
              </a:defRPr>
            </a:pPr>
            <a:r>
              <a:t>Ensures campus battery is not depleted overnight, preserving microgrid lifecycle.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48640"/>
            <a:ext cx="10332720" cy="914400"/>
          </a:xfrm>
          <a:prstGeom prst="rect">
            <a:avLst/>
          </a:prstGeom>
          <a:noFill/>
        </p:spPr>
        <p:txBody>
          <a:bodyPr wrap="none">
            <a:spAutoFit/>
          </a:bodyPr>
          <a:lstStyle/>
          <a:p>
            <a:pPr>
              <a:defRPr sz="2600" b="1">
                <a:solidFill>
                  <a:srgbClr val="F8FAFC"/>
                </a:solidFill>
                <a:latin typeface="Segoe UI"/>
              </a:defRPr>
            </a:pPr>
            <a:r>
              <a:t>Official Reference Verification: 10/10 Benchmark Cases</a:t>
            </a:r>
          </a:p>
          <a:p>
            <a:pPr>
              <a:defRPr sz="1400">
                <a:solidFill>
                  <a:srgbClr val="0EA5E9"/>
                </a:solidFill>
                <a:latin typeface="Segoe UI"/>
              </a:defRPr>
            </a:pPr>
            <a:r>
              <a:t>100% directive extraction accuracy and 0.0000 BDT difference against all official test cases.</a:t>
            </a:r>
          </a:p>
        </p:txBody>
      </p:sp>
      <p:sp>
        <p:nvSpPr>
          <p:cNvPr id="4" name="Rounded Rectangle 3"/>
          <p:cNvSpPr/>
          <p:nvPr/>
        </p:nvSpPr>
        <p:spPr>
          <a:xfrm>
            <a:off x="914400" y="1554480"/>
            <a:ext cx="2423160" cy="1005840"/>
          </a:xfrm>
          <a:prstGeom prst="roundRect">
            <a:avLst/>
          </a:prstGeom>
          <a:solidFill>
            <a:srgbClr val="1E293B"/>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645920"/>
            <a:ext cx="2240280" cy="822960"/>
          </a:xfrm>
          <a:prstGeom prst="rect">
            <a:avLst/>
          </a:prstGeom>
          <a:noFill/>
        </p:spPr>
        <p:txBody>
          <a:bodyPr wrap="square">
            <a:spAutoFit/>
          </a:bodyPr>
          <a:lstStyle/>
          <a:p>
            <a:pPr algn="ctr">
              <a:defRPr sz="2200" b="1">
                <a:solidFill>
                  <a:srgbClr val="10B981"/>
                </a:solidFill>
                <a:latin typeface="Segoe UI"/>
              </a:defRPr>
            </a:pPr>
            <a:r>
              <a:t>10 / 10</a:t>
            </a:r>
          </a:p>
          <a:p>
            <a:pPr algn="ctr">
              <a:defRPr sz="1100">
                <a:solidFill>
                  <a:srgbClr val="94A3B8"/>
                </a:solidFill>
                <a:latin typeface="Segoe UI"/>
              </a:defRPr>
            </a:pPr>
            <a:r>
              <a:t>Official Samples Passed</a:t>
            </a:r>
          </a:p>
        </p:txBody>
      </p:sp>
      <p:sp>
        <p:nvSpPr>
          <p:cNvPr id="6" name="Rounded Rectangle 5"/>
          <p:cNvSpPr/>
          <p:nvPr/>
        </p:nvSpPr>
        <p:spPr>
          <a:xfrm>
            <a:off x="3557016" y="1554480"/>
            <a:ext cx="2423160" cy="1005840"/>
          </a:xfrm>
          <a:prstGeom prst="roundRect">
            <a:avLst/>
          </a:prstGeom>
          <a:solidFill>
            <a:srgbClr val="1E293B"/>
          </a:solidFill>
          <a:ln w="1905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48456" y="1645920"/>
            <a:ext cx="2240280" cy="822960"/>
          </a:xfrm>
          <a:prstGeom prst="rect">
            <a:avLst/>
          </a:prstGeom>
          <a:noFill/>
        </p:spPr>
        <p:txBody>
          <a:bodyPr wrap="square">
            <a:spAutoFit/>
          </a:bodyPr>
          <a:lstStyle/>
          <a:p>
            <a:pPr algn="ctr">
              <a:defRPr sz="2200" b="1">
                <a:solidFill>
                  <a:srgbClr val="0EA5E9"/>
                </a:solidFill>
                <a:latin typeface="Segoe UI"/>
              </a:defRPr>
            </a:pPr>
            <a:r>
              <a:t>0.0000 ৳</a:t>
            </a:r>
          </a:p>
          <a:p>
            <a:pPr algn="ctr">
              <a:defRPr sz="1100">
                <a:solidFill>
                  <a:srgbClr val="94A3B8"/>
                </a:solidFill>
                <a:latin typeface="Segoe UI"/>
              </a:defRPr>
            </a:pPr>
            <a:r>
              <a:t>Total Cost Delta (BDT)</a:t>
            </a:r>
          </a:p>
        </p:txBody>
      </p:sp>
      <p:sp>
        <p:nvSpPr>
          <p:cNvPr id="8" name="Rounded Rectangle 7"/>
          <p:cNvSpPr/>
          <p:nvPr/>
        </p:nvSpPr>
        <p:spPr>
          <a:xfrm>
            <a:off x="6199632" y="1554480"/>
            <a:ext cx="2423160" cy="1005840"/>
          </a:xfrm>
          <a:prstGeom prst="roundRect">
            <a:avLst/>
          </a:prstGeom>
          <a:solidFill>
            <a:srgbClr val="1E293B"/>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91072" y="1645920"/>
            <a:ext cx="2240280" cy="822960"/>
          </a:xfrm>
          <a:prstGeom prst="rect">
            <a:avLst/>
          </a:prstGeom>
          <a:noFill/>
        </p:spPr>
        <p:txBody>
          <a:bodyPr wrap="square">
            <a:spAutoFit/>
          </a:bodyPr>
          <a:lstStyle/>
          <a:p>
            <a:pPr algn="ctr">
              <a:defRPr sz="2200" b="1">
                <a:solidFill>
                  <a:srgbClr val="F59E0B"/>
                </a:solidFill>
                <a:latin typeface="Segoe UI"/>
              </a:defRPr>
            </a:pPr>
            <a:r>
              <a:t>100%</a:t>
            </a:r>
          </a:p>
          <a:p>
            <a:pPr algn="ctr">
              <a:defRPr sz="1100">
                <a:solidFill>
                  <a:srgbClr val="94A3B8"/>
                </a:solidFill>
                <a:latin typeface="Segoe UI"/>
              </a:defRPr>
            </a:pPr>
            <a:r>
              <a:t>Directive Precision</a:t>
            </a:r>
          </a:p>
        </p:txBody>
      </p:sp>
      <p:sp>
        <p:nvSpPr>
          <p:cNvPr id="10" name="Rounded Rectangle 9"/>
          <p:cNvSpPr/>
          <p:nvPr/>
        </p:nvSpPr>
        <p:spPr>
          <a:xfrm>
            <a:off x="8842248" y="1554480"/>
            <a:ext cx="2423160" cy="1005840"/>
          </a:xfrm>
          <a:prstGeom prst="roundRect">
            <a:avLst/>
          </a:prstGeom>
          <a:solidFill>
            <a:srgbClr val="1E293B"/>
          </a:solidFill>
          <a:ln w="19050">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33688" y="1645920"/>
            <a:ext cx="2240280" cy="822960"/>
          </a:xfrm>
          <a:prstGeom prst="rect">
            <a:avLst/>
          </a:prstGeom>
          <a:noFill/>
        </p:spPr>
        <p:txBody>
          <a:bodyPr wrap="square">
            <a:spAutoFit/>
          </a:bodyPr>
          <a:lstStyle/>
          <a:p>
            <a:pPr algn="ctr">
              <a:defRPr sz="2200" b="1">
                <a:solidFill>
                  <a:srgbClr val="F8FAFC"/>
                </a:solidFill>
                <a:latin typeface="Segoe UI"/>
              </a:defRPr>
            </a:pPr>
            <a:r>
              <a:t>&lt; 2.5s</a:t>
            </a:r>
          </a:p>
          <a:p>
            <a:pPr algn="ctr">
              <a:defRPr sz="1100">
                <a:solidFill>
                  <a:srgbClr val="94A3B8"/>
                </a:solidFill>
                <a:latin typeface="Segoe UI"/>
              </a:defRPr>
            </a:pPr>
            <a:r>
              <a:t>End-to-End Latency</a:t>
            </a:r>
          </a:p>
        </p:txBody>
      </p:sp>
      <p:sp>
        <p:nvSpPr>
          <p:cNvPr id="12" name="Rounded Rectangle 11"/>
          <p:cNvSpPr/>
          <p:nvPr/>
        </p:nvSpPr>
        <p:spPr>
          <a:xfrm>
            <a:off x="914400" y="2743200"/>
            <a:ext cx="10332720" cy="3474720"/>
          </a:xfrm>
          <a:prstGeom prst="roundRect">
            <a:avLst/>
          </a:prstGeom>
          <a:solidFill>
            <a:srgbClr val="1E293B"/>
          </a:solidFill>
          <a:ln w="1905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880360"/>
            <a:ext cx="9966960" cy="457200"/>
          </a:xfrm>
          <a:prstGeom prst="rect">
            <a:avLst/>
          </a:prstGeom>
          <a:noFill/>
        </p:spPr>
        <p:txBody>
          <a:bodyPr wrap="square">
            <a:spAutoFit/>
          </a:bodyPr>
          <a:lstStyle/>
          <a:p>
            <a:pPr>
              <a:defRPr sz="1400" b="1">
                <a:solidFill>
                  <a:srgbClr val="0EA5E9"/>
                </a:solidFill>
                <a:latin typeface="Segoe UI"/>
              </a:defRPr>
            </a:pPr>
            <a:r>
              <a:t>Official Public Sample Verification Results</a:t>
            </a:r>
          </a:p>
        </p:txBody>
      </p:sp>
      <p:sp>
        <p:nvSpPr>
          <p:cNvPr id="14" name="TextBox 13"/>
          <p:cNvSpPr txBox="1"/>
          <p:nvPr/>
        </p:nvSpPr>
        <p:spPr>
          <a:xfrm>
            <a:off x="1097280" y="3291840"/>
            <a:ext cx="9966960" cy="2743200"/>
          </a:xfrm>
          <a:prstGeom prst="rect">
            <a:avLst/>
          </a:prstGeom>
          <a:noFill/>
        </p:spPr>
        <p:txBody>
          <a:bodyPr wrap="square">
            <a:spAutoFit/>
          </a:bodyPr>
          <a:lstStyle/>
          <a:p>
            <a:pPr>
              <a:spcAft>
                <a:spcPts val="600"/>
              </a:spcAft>
              <a:defRPr sz="1000" b="1">
                <a:solidFill>
                  <a:srgbClr val="0EA5E9"/>
                </a:solidFill>
                <a:latin typeface="Consolas"/>
              </a:defRPr>
            </a:pPr>
            <a:r>
              <a:t>Case ID        | Operational Scenario                           | Reference Cost   | GridWise Cost    | Delta        | Result</a:t>
            </a:r>
          </a:p>
          <a:p>
            <a:pPr>
              <a:spcAft>
                <a:spcPts val="300"/>
              </a:spcAft>
              <a:defRPr sz="950">
                <a:solidFill>
                  <a:srgbClr val="F8FAFC"/>
                </a:solidFill>
                <a:latin typeface="Consolas"/>
              </a:defRPr>
            </a:pPr>
            <a:r>
              <a:t>SAMPLE-01      | Baseline Campus Operation (No operator notes)  | 10,230.70 BDT    | 10,230.70 BDT    | 0.0000 BDT   | MATCH</a:t>
            </a:r>
          </a:p>
          <a:p>
            <a:pPr>
              <a:spcAft>
                <a:spcPts val="300"/>
              </a:spcAft>
              <a:defRPr sz="950">
                <a:solidFill>
                  <a:srgbClr val="F8FAFC"/>
                </a:solidFill>
                <a:latin typeface="Consolas"/>
              </a:defRPr>
            </a:pPr>
            <a:r>
              <a:t>SAMPLE-02      | Solar Panel Cleaning Window (solar_reduction)  | 11,845.20 BDT    | 11,845.20 BDT    | 0.0000 BDT   | MATCH</a:t>
            </a:r>
          </a:p>
          <a:p>
            <a:pPr>
              <a:spcAft>
                <a:spcPts val="300"/>
              </a:spcAft>
              <a:defRPr sz="950">
                <a:solidFill>
                  <a:srgbClr val="F8FAFC"/>
                </a:solidFill>
                <a:latin typeface="Consolas"/>
              </a:defRPr>
            </a:pPr>
            <a:r>
              <a:t>SAMPLE-03      | Evening Seminar Reserve (minimum_battery_reserve) | 10,480.90 BDT    | 10,480.90 BDT    | 0.0000 BDT   | MATCH</a:t>
            </a:r>
          </a:p>
          <a:p>
            <a:pPr>
              <a:spcAft>
                <a:spcPts val="300"/>
              </a:spcAft>
              <a:defRPr sz="950">
                <a:solidFill>
                  <a:srgbClr val="F8FAFC"/>
                </a:solidFill>
                <a:latin typeface="Consolas"/>
              </a:defRPr>
            </a:pPr>
            <a:r>
              <a:t>SAMPLE-04      | Transformer Maintenance Window (max_grid_window) | 12,110.40 BDT    | 12,110.40 BDT    | 0.0000 BDT   | MATCH</a:t>
            </a:r>
          </a:p>
          <a:p>
            <a:pPr>
              <a:spcAft>
                <a:spcPts val="300"/>
              </a:spcAft>
              <a:defRPr sz="950">
                <a:solidFill>
                  <a:srgbClr val="F8FAFC"/>
                </a:solidFill>
                <a:latin typeface="Consolas"/>
              </a:defRPr>
            </a:pPr>
            <a:r>
              <a:t>SAMPLE-05      | Battery Inverter Firmware Test (no_charge_window) | 10,950.00 BDT    | 10,950.00 BDT    | 0.0000 BDT   | MATCH</a:t>
            </a:r>
          </a:p>
          <a:p>
            <a:pPr>
              <a:spcAft>
                <a:spcPts val="300"/>
              </a:spcAft>
              <a:defRPr sz="950">
                <a:solidFill>
                  <a:srgbClr val="F8FAFC"/>
                </a:solidFill>
                <a:latin typeface="Consolas"/>
              </a:defRPr>
            </a:pPr>
            <a:r>
              <a:t>SAMPLE-06      | Multiple Directives Combined (Solar + Reserve + Feeder) | 13,420.80 BDT    | 13,420.80 BDT    | 0.0000 BDT   | MATCH</a:t>
            </a:r>
          </a:p>
          <a:p>
            <a:pPr>
              <a:spcAft>
                <a:spcPts val="300"/>
              </a:spcAft>
              <a:defRPr sz="950">
                <a:solidFill>
                  <a:srgbClr val="F59E0B"/>
                </a:solidFill>
                <a:latin typeface="Consolas"/>
              </a:defRPr>
            </a:pPr>
            <a:r>
              <a:t>SAMPLE-07..10  | Adversarial Phrasing, Ambiguous Times, &amp; Distractor Notes | Exact Reference  | Exact Reference  | 0.0000 BDT   | MATCH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48640"/>
            <a:ext cx="10332720" cy="914400"/>
          </a:xfrm>
          <a:prstGeom prst="rect">
            <a:avLst/>
          </a:prstGeom>
          <a:noFill/>
        </p:spPr>
        <p:txBody>
          <a:bodyPr wrap="none">
            <a:spAutoFit/>
          </a:bodyPr>
          <a:lstStyle/>
          <a:p>
            <a:pPr>
              <a:defRPr sz="2600" b="1">
                <a:solidFill>
                  <a:srgbClr val="F8FAFC"/>
                </a:solidFill>
                <a:latin typeface="Segoe UI"/>
              </a:defRPr>
            </a:pPr>
            <a:r>
              <a:t>Production Readiness &amp; Hackathon Deliverables</a:t>
            </a:r>
          </a:p>
          <a:p>
            <a:pPr>
              <a:defRPr sz="1400">
                <a:solidFill>
                  <a:srgbClr val="0EA5E9"/>
                </a:solidFill>
                <a:latin typeface="Segoe UI"/>
              </a:defRPr>
            </a:pPr>
            <a:r>
              <a:t>100% compliant with Page 11 Pre-Submit Checklist &amp; Deployment Guidelines.</a:t>
            </a:r>
          </a:p>
        </p:txBody>
      </p:sp>
      <p:sp>
        <p:nvSpPr>
          <p:cNvPr id="4" name="Rounded Rectangle 3"/>
          <p:cNvSpPr/>
          <p:nvPr/>
        </p:nvSpPr>
        <p:spPr>
          <a:xfrm>
            <a:off x="914400" y="1645920"/>
            <a:ext cx="5029200" cy="4572000"/>
          </a:xfrm>
          <a:prstGeom prst="roundRect">
            <a:avLst/>
          </a:prstGeom>
          <a:solidFill>
            <a:srgbClr val="1E293B"/>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783080"/>
            <a:ext cx="4663440" cy="457200"/>
          </a:xfrm>
          <a:prstGeom prst="rect">
            <a:avLst/>
          </a:prstGeom>
          <a:noFill/>
        </p:spPr>
        <p:txBody>
          <a:bodyPr wrap="square">
            <a:spAutoFit/>
          </a:bodyPr>
          <a:lstStyle/>
          <a:p>
            <a:pPr>
              <a:defRPr sz="1400" b="1">
                <a:solidFill>
                  <a:srgbClr val="0EA5E9"/>
                </a:solidFill>
                <a:latin typeface="Segoe UI"/>
              </a:defRPr>
            </a:pPr>
            <a:r>
              <a:t>Deployment &amp; Architecture Highlights</a:t>
            </a:r>
          </a:p>
        </p:txBody>
      </p:sp>
      <p:sp>
        <p:nvSpPr>
          <p:cNvPr id="6" name="TextBox 5"/>
          <p:cNvSpPr txBox="1"/>
          <p:nvPr/>
        </p:nvSpPr>
        <p:spPr>
          <a:xfrm>
            <a:off x="1097280" y="2286000"/>
            <a:ext cx="4663440" cy="3749040"/>
          </a:xfrm>
          <a:prstGeom prst="rect">
            <a:avLst/>
          </a:prstGeom>
          <a:noFill/>
        </p:spPr>
        <p:txBody>
          <a:bodyPr wrap="square">
            <a:spAutoFit/>
          </a:bodyPr>
          <a:lstStyle/>
          <a:p>
            <a:pPr>
              <a:defRPr sz="1200" b="1">
                <a:solidFill>
                  <a:srgbClr val="10B981"/>
                </a:solidFill>
                <a:latin typeface="Segoe UI"/>
              </a:defRPr>
            </a:pPr>
            <a:r>
              <a:t>✔ Live Cloud API</a:t>
            </a:r>
          </a:p>
          <a:p>
            <a:pPr>
              <a:spcAft>
                <a:spcPts val="800"/>
              </a:spcAft>
              <a:defRPr sz="1050">
                <a:solidFill>
                  <a:srgbClr val="F8FAFC"/>
                </a:solidFill>
                <a:latin typeface="Segoe UI"/>
              </a:defRPr>
            </a:pPr>
            <a:r>
              <a:t>  Deployed on Railway: https://gridwise-energy-optimizer-production.up.railway.app</a:t>
            </a:r>
          </a:p>
          <a:p>
            <a:pPr>
              <a:defRPr sz="1200" b="1">
                <a:solidFill>
                  <a:srgbClr val="10B981"/>
                </a:solidFill>
                <a:latin typeface="Segoe UI"/>
              </a:defRPr>
            </a:pPr>
            <a:r>
              <a:t>✔ Docker Container</a:t>
            </a:r>
          </a:p>
          <a:p>
            <a:pPr>
              <a:spcAft>
                <a:spcPts val="800"/>
              </a:spcAft>
              <a:defRPr sz="1050">
                <a:solidFill>
                  <a:srgbClr val="F8FAFC"/>
                </a:solidFill>
                <a:latin typeface="Segoe UI"/>
              </a:defRPr>
            </a:pPr>
            <a:r>
              <a:t>  Multi-stage lean image on GHCR (ghcr.io/happinessisreal/gridwise-optimizer:latest)</a:t>
            </a:r>
          </a:p>
          <a:p>
            <a:pPr>
              <a:defRPr sz="1200" b="1">
                <a:solidFill>
                  <a:srgbClr val="10B981"/>
                </a:solidFill>
                <a:latin typeface="Segoe UI"/>
              </a:defRPr>
            </a:pPr>
            <a:r>
              <a:t>✔ Security Compliance</a:t>
            </a:r>
          </a:p>
          <a:p>
            <a:pPr>
              <a:spcAft>
                <a:spcPts val="800"/>
              </a:spcAft>
              <a:defRPr sz="1050">
                <a:solidFill>
                  <a:srgbClr val="F8FAFC"/>
                </a:solidFill>
                <a:latin typeface="Segoe UI"/>
              </a:defRPr>
            </a:pPr>
            <a:r>
              <a:t>  Non-root user (appuser:10001), zero secrets committed, read-only FS safe</a:t>
            </a:r>
          </a:p>
          <a:p>
            <a:pPr>
              <a:defRPr sz="1200" b="1">
                <a:solidFill>
                  <a:srgbClr val="10B981"/>
                </a:solidFill>
                <a:latin typeface="Segoe UI"/>
              </a:defRPr>
            </a:pPr>
            <a:r>
              <a:t>✔ Local Reproducibility</a:t>
            </a:r>
          </a:p>
          <a:p>
            <a:pPr>
              <a:spcAft>
                <a:spcPts val="800"/>
              </a:spcAft>
              <a:defRPr sz="1050">
                <a:solidFill>
                  <a:srgbClr val="F8FAFC"/>
                </a:solidFill>
                <a:latin typeface="Segoe UI"/>
              </a:defRPr>
            </a:pPr>
            <a:r>
              <a:t>  Single-command startup via docker-compose up or uvicorn app.main:app</a:t>
            </a:r>
          </a:p>
          <a:p>
            <a:pPr>
              <a:defRPr sz="1200" b="1">
                <a:solidFill>
                  <a:srgbClr val="10B981"/>
                </a:solidFill>
                <a:latin typeface="Segoe UI"/>
              </a:defRPr>
            </a:pPr>
            <a:r>
              <a:t>✔ Zero-Downtime Fallback</a:t>
            </a:r>
          </a:p>
          <a:p>
            <a:pPr>
              <a:spcAft>
                <a:spcPts val="800"/>
              </a:spcAft>
              <a:defRPr sz="1050">
                <a:solidFill>
                  <a:srgbClr val="F8FAFC"/>
                </a:solidFill>
                <a:latin typeface="Segoe UI"/>
              </a:defRPr>
            </a:pPr>
            <a:r>
              <a:t>  Graceful offline regex fallback guarantees service uptime even without LLM keys</a:t>
            </a:r>
          </a:p>
        </p:txBody>
      </p:sp>
      <p:sp>
        <p:nvSpPr>
          <p:cNvPr id="7" name="Rounded Rectangle 6"/>
          <p:cNvSpPr/>
          <p:nvPr/>
        </p:nvSpPr>
        <p:spPr>
          <a:xfrm>
            <a:off x="6217920" y="1645920"/>
            <a:ext cx="5029200" cy="4572000"/>
          </a:xfrm>
          <a:prstGeom prst="roundRect">
            <a:avLst/>
          </a:prstGeom>
          <a:solidFill>
            <a:srgbClr val="1E293B"/>
          </a:solidFill>
          <a:ln w="1905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783080"/>
            <a:ext cx="4663440" cy="457200"/>
          </a:xfrm>
          <a:prstGeom prst="rect">
            <a:avLst/>
          </a:prstGeom>
          <a:noFill/>
        </p:spPr>
        <p:txBody>
          <a:bodyPr wrap="square">
            <a:spAutoFit/>
          </a:bodyPr>
          <a:lstStyle/>
          <a:p>
            <a:pPr>
              <a:defRPr sz="1400" b="1">
                <a:solidFill>
                  <a:srgbClr val="0EA5E9"/>
                </a:solidFill>
                <a:latin typeface="Segoe UI"/>
              </a:defRPr>
            </a:pPr>
            <a:r>
              <a:t>Page 11 Pre-Submit Checklist</a:t>
            </a:r>
          </a:p>
        </p:txBody>
      </p:sp>
      <p:sp>
        <p:nvSpPr>
          <p:cNvPr id="9" name="TextBox 8"/>
          <p:cNvSpPr txBox="1"/>
          <p:nvPr/>
        </p:nvSpPr>
        <p:spPr>
          <a:xfrm>
            <a:off x="6400800" y="2286000"/>
            <a:ext cx="4663440" cy="3749040"/>
          </a:xfrm>
          <a:prstGeom prst="rect">
            <a:avLst/>
          </a:prstGeom>
          <a:noFill/>
        </p:spPr>
        <p:txBody>
          <a:bodyPr wrap="square">
            <a:spAutoFit/>
          </a:bodyPr>
          <a:lstStyle/>
          <a:p>
            <a:pPr>
              <a:spcAft>
                <a:spcPts val="800"/>
              </a:spcAft>
              <a:defRPr sz="1100">
                <a:solidFill>
                  <a:srgbClr val="F8FAFC"/>
                </a:solidFill>
                <a:latin typeface="Segoe UI"/>
              </a:defRPr>
            </a:pPr>
            <a:r>
              <a:t>☑  POST /optimize-energy returns 200 with complete 24h schedule</a:t>
            </a:r>
          </a:p>
          <a:p>
            <a:pPr>
              <a:spcAft>
                <a:spcPts val="800"/>
              </a:spcAft>
              <a:defRPr sz="1100">
                <a:solidFill>
                  <a:srgbClr val="F8FAFC"/>
                </a:solidFill>
                <a:latin typeface="Segoe UI"/>
              </a:defRPr>
            </a:pPr>
            <a:r>
              <a:t>☑  GET /health returns 200 OK for platform liveness checks</a:t>
            </a:r>
          </a:p>
          <a:p>
            <a:pPr>
              <a:spcAft>
                <a:spcPts val="800"/>
              </a:spcAft>
              <a:defRPr sz="1100">
                <a:solidFill>
                  <a:srgbClr val="F8FAFC"/>
                </a:solidFill>
                <a:latin typeface="Segoe UI"/>
              </a:defRPr>
            </a:pPr>
            <a:r>
              <a:t>☑  End-of-day battery energy exactly equals initial energy (E24 == E0)</a:t>
            </a:r>
          </a:p>
          <a:p>
            <a:pPr>
              <a:spcAft>
                <a:spcPts val="800"/>
              </a:spcAft>
              <a:defRPr sz="1100">
                <a:solidFill>
                  <a:srgbClr val="F8FAFC"/>
                </a:solidFill>
                <a:latin typeface="Segoe UI"/>
              </a:defRPr>
            </a:pPr>
            <a:r>
              <a:t>☑  Malformed payloads rejected fast with HTTP 400 Bad Request</a:t>
            </a:r>
          </a:p>
          <a:p>
            <a:pPr>
              <a:spcAft>
                <a:spcPts val="800"/>
              </a:spcAft>
              <a:defRPr sz="1100">
                <a:solidFill>
                  <a:srgbClr val="F8FAFC"/>
                </a:solidFill>
                <a:latin typeface="Segoe UI"/>
              </a:defRPr>
            </a:pPr>
            <a:r>
              <a:t>☑  All 91 adversarial edge cases pass with zero crashes</a:t>
            </a:r>
          </a:p>
          <a:p>
            <a:pPr>
              <a:spcAft>
                <a:spcPts val="800"/>
              </a:spcAft>
              <a:defRPr sz="1100">
                <a:solidFill>
                  <a:srgbClr val="F8FAFC"/>
                </a:solidFill>
                <a:latin typeface="Segoe UI"/>
              </a:defRPr>
            </a:pPr>
            <a:r>
              <a:t>☑  README.md contains copy-paste local quickstart &amp; env var guide</a:t>
            </a:r>
          </a:p>
          <a:p>
            <a:pPr>
              <a:spcAft>
                <a:spcPts val="800"/>
              </a:spcAft>
              <a:defRPr sz="1100">
                <a:solidFill>
                  <a:srgbClr val="F8FAFC"/>
                </a:solidFill>
                <a:latin typeface="Segoe UI"/>
              </a:defRPr>
            </a:pPr>
            <a:r>
              <a:t>☑  Repository remains private during hackathon, public after deadline</a:t>
            </a:r>
          </a:p>
          <a:p>
            <a:pPr>
              <a:spcAft>
                <a:spcPts val="800"/>
              </a:spcAft>
              <a:defRPr sz="1100">
                <a:solidFill>
                  <a:srgbClr val="F8FAFC"/>
                </a:solidFill>
                <a:latin typeface="Segoe UI"/>
              </a:defRPr>
            </a:pPr>
            <a:r>
              <a:t>☑  3-minute presentation video recorded within 180s ceiling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