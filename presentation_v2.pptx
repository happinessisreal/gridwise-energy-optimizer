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[0:00 - 0:25] ===</a:t>
            </a:r>
          </a:p>
          <a:p>
            <a:r>
              <a:t>সম্মানিত বিচারকমণ্ডলী, সবাইকে স্বাগত জানাচ্ছি আমাদের প্রজেক্ট GridWise-এ — BUP CSE Fest 2026 স্মার্ট ক্যাম্পাস এনার্জি অপটিমাইজেশন চ্যালেঞ্জের জন্য আমাদের সমাধান। একটি আধুনিক বিশ্ববিদ্যালয় ক্যাম্পাসে ওঠানামা করা রুফটপ সোলার জেনারেশন, ক্যাম্পাসের জটিল ইলেকট্রিক্যাল ডিমান্ড এবং পরিবর্তনশীল গ্রিড ট্যারিফের ভারসাম্য রক্ষা করা অত্যন্ত জটিল। এর ওপর ফ্যাসিলিটি ম্যানেজাররা বিভিন্ন অপারেশনাল নির্দেশনা দেন সাধারণ ভাষায়। আমাদের মিশন: এই প্রাকৃতিক ভাষার নির্দেশনাগুলোকে নির্ভুল গাণিতিক কনস্ট্রেইন্টে রূপান্তর করে ২৪ ঘণ্টার এমন একটি ব্যাটারি শিডিউল তৈরি করা, যা বিদ্যুৎ খরচ সর্বনিম্ন রাখবে এবং ক্যাম্পাসের কোনো ফিজিক্যাল নিয়ম ভঙ্গ করবে না।</a:t>
            </a:r>
          </a:p>
          <a:p/>
          <a:p>
            <a:r>
              <a:t>=== ENGLISH SCRIPT [0:00 - 0:25] ===</a:t>
            </a:r>
          </a:p>
          <a:p>
            <a:r>
              <a:t>Welcome judges. This is GridWise, our solution for the BUP CSE Fest 2026 Smart Campus Energy Optimization Challenge. Universities manage fluctuating rooftop solar, dynamic tariffs, and battery storage, while facility managers provide unstructured constraints. GridWise bridges natural language directives with mathematically provable linear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[0:25 - 0:55] ===</a:t>
            </a:r>
          </a:p>
          <a:p>
            <a:r>
              <a:t>আমাদের সিস্টেম আর্কিটেকচারের মূল দর্শন একটাই: কখনোই জেনারেটিভ এআই-এর ওপর র (raw) মাইক্রোগ্রিড ম্যাথ বা সমীকরণ সমাধানের দায়িত্ব ছেড়ে দেওয়া যাবে না। এজন্য আমরা তৈরি করেছি একটি ডিকাপল্ড চার স্টেজের পাইপলাইন: প্রথমত, আমাদের LLM ডিরেক্টিভ ইন্টারপ্রেটার DeepSeek-V3, Groq কিংবা OpenAI ব্যবহার করে জিরো-শট প্রম্পটিংয়ের মাধ্যমে অপারেটরের নোট থেকে আসল ইনটেন্ট বের করে আনে এবং অপ্রাসঙ্গিক মন্তব্য সম্পূর্ণ উপেক্ষা করে। দ্বিতীয়ত, যদি কোনো কারণে এক্সটার্নাল এআই সার্ভিসে নেটওয়ার্ক লেটেন্সি বা এপিআই ফেইলিওর দেখা দেয়, আমাদের সিস্টেমে থাকা অফলাইন ডিটারমিনিস্টিক রেজেক্স পার্সার স্বয়ংক্রিয়ভাবে ব্যাকআপ নেয় — যা নিশ্চিত করে ১০০% সিস্টেম আপটাইম এবং জিরো ডাউনটাইম।</a:t>
            </a:r>
          </a:p>
          <a:p/>
          <a:p>
            <a:r>
              <a:t>=== ENGLISH SCRIPT [0:25 - 0:55] ===</a:t>
            </a:r>
          </a:p>
          <a:p>
            <a:r>
              <a:t>Our core design philosophy: never trust generative AI with raw microgrid math. We built a decoupled 4-stage pipeline. Stage 1 validates schemas. Stage 2 uses DeepSeek or Groq for semantic extraction, backed by an offline regex engine. Stage 3 normalizes constraints deterministically. Stage 4 executes continuous linear programming in SciPy HiGHS, validated by an independent physics replay.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[0:55 - 1:35] ===</a:t>
            </a:r>
          </a:p>
          <a:p>
            <a:r>
              <a:t>সলভারে পৌঁছানোর আগে প্রতিটি ডিরেক্টিভকে পার হতে হয় আমাদের ডিটারমিনিস্টিক গার্ডরেইল লেয়ার। এই লেয়ারটি নিশ্চিত করে মূল গাণিতিক নীতি: applies মান false হবে কেবল এবং কেবল যদি ডিরেক্টিভটি একটি no_op হয়। আমরা বাস্তব জীবনের নানা জটিল অ্যাডভারসারিয়াল এজ-কেস সমাধান করেছি: 'reduced by 80%' এবং 'reduced to 20%' উভয়কেই ফ্যাক্টর ০.২০-এ রূপান্তর করা, দুপুর ১২টা বা মধ্যরাত অতিক্রম করা টাইম উইন্ডো নরমালাইজ করা, ব্যাটারি চার্জিং ও ডিসচার্জিংয়ের সাবস্ট্রিং কনফ্লিক্ট সমাধান করা, এবং NaN ও ইনফিনিটির মতো ক্ষতিকর ইনপুট ফিল্টার করা। আমাদের ৯১টি টেস্ট ভেক্টরের অ্যাডভারসারিয়াল টেস্ট স্যুটে প্রতিটি এজ-কেস সফলভাবে পাস করেছে।</a:t>
            </a:r>
          </a:p>
          <a:p/>
          <a:p>
            <a:r>
              <a:t>=== ENGLISH SCRIPT [0:55 - 1:35] ===</a:t>
            </a:r>
          </a:p>
          <a:p>
            <a:r>
              <a:t>Before reaching the LP solver, every directive must pass our guardrail layer. We enforce the invariant that applies is false if and only if directive_type is no_op. We hardened the system against real-world adversarial attacks: disambiguating 'reduced by' vs 'reduced to', handling noon-crossing intervals, and preventing substring collisions. Our 91-test adversarial suite verifies zero crashes and complete secret protection.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[1:35 - 2:15] ===</a:t>
            </a:r>
          </a:p>
          <a:p>
            <a:r>
              <a:t>GridWise-এর মূল চালিকাশক্তি হলো আমাদের অপটিমাইজেশন ইঞ্জিন। এটিকে ৯৬টি ডিসিশন ভেরিয়েবল এবং ৭৩টি কনস্ট্রেইন্ট দিয়ে একটি কনটিনিউয়াস লিনিয়ার প্রোগ্রাম হিসেবে ফর্মুলেট করা হয়েছে এবং SciPy-এর HiGHS সিমপ্লেক্স সলভার দিয়ে সমাধান করা হয়েছে। সলভারটি মাইক্রোগ্রিডের ৭টি মৌলিক ফিজিক্যাল আইন অক্ষরে অক্ষরে মেনে চলে: প্রতি ঘণ্টায় ক্যাম্পাসের নিখুঁত এনার্জি ব্যালান্স, সোলার কার্টেইলমেন্ট সীমা, ইনভার্টারের চার্জ ও ডিসচার্জ পাওয়ার রেট লিমিট, ডায়নামিক ব্যাটারি রিজার্ভ ফ্লোর, এবং সবচেয়ে গুরুত্বপূর্ণ: এন্ড-অফ-ডে ব্যাটারি নিউট্রালিটি (E24 = E0), যা নিশ্চিত করে ক্যাম্পাসের ব্যাটারি সারা দিনে অপচয় হয়ে রাতে খালি থাকবে না। আমাদের সলভার ৫ মিলি-সেকেন্ডের কম সময়ে গাণিতিকভাবে নিখুঁত গ্লোবাল মিনিমাম খরচ বের করে দেয়।</a:t>
            </a:r>
          </a:p>
          <a:p/>
          <a:p>
            <a:r>
              <a:t>=== ENGLISH SCRIPT [1:35 - 2:15] ===</a:t>
            </a:r>
          </a:p>
          <a:p>
            <a:r>
              <a:t>At the core is our optimization engine, formulated as a continuous Linear Program with 96 decision variables and 73 constraints. Solved using SciPy's HiGHS solver, it guarantees the global mathematical minimum cost in under 5 milliseconds. Crucially, it enforces end-of-day battery neutrality, ensuring starting energy equals ending energy.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[2:15 - 2:45] ===</a:t>
            </a:r>
          </a:p>
          <a:p>
            <a:r>
              <a:t>এবার সরাসরি আমাদের সিস্টেমের ভেরিফিকেশন দেখে নেওয়া যাক। অফিসিয়াল ১০টি রেফারেন্স স্যাম্পল কেসের ওপর টেস্ট চালিয়ে আমরা দেখতে পাচ্ছি: প্রতিটি অপারেটর ডিরেক্টিভ ১০০% প্রিসিশন নিয়ে এক্সট্র্যাক্ট হয়েছে। সলভার প্রতিটি ফিজিক্যাল কনস্ট্রেইন্ট সফলভাবে বজায় রেখেছে, এবং আমাদের অপটিমাইজারের মোট খরচ অফিসিয়াল রেফারেন্স ফলাফলের সাথে প্রতিটি কেসেই ঠিক ০.০০০০ টাকা (0.0000 BDT) পার্থক্যে নিখুঁতভাবে মিলে গেছে! পাশাপাশি, pytest tests/test_adversarial.py রান করলে আমাদের ৯১টি টেস্টের সবকটিই গ্রিন পাস দেখায়, যা প্রমাণ করে সিস্টেমের অটুট নির্ভুলতা।</a:t>
            </a:r>
          </a:p>
          <a:p/>
          <a:p>
            <a:r>
              <a:t>=== ENGLISH SCRIPT [2:15 - 2:45] ===</a:t>
            </a:r>
          </a:p>
          <a:p>
            <a:r>
              <a:t>Here is the live verification against the 10 official reference samples. GridWise achieved 100% directive extraction precision and exactly 0.0000 BDT cost difference across all test cases. In addition, our 91 adversarial tests pass with zero exceptions.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বাংলা স্ক্রিপ্ট (BANGLA) [2:45 - 3:00] ===</a:t>
            </a:r>
          </a:p>
          <a:p>
            <a:r>
              <a:t>GridWise সম্পূর্ণ প্রোডাকশন-রেডি। এটি লাইভ ক্লাউডে ডেপ্লয় করা হয়েছে, রয়েছে গিটহাব প্যাকেজে নন-রুট মাল্টি-স্টেজ ডকার কন্টেইনার এবং কোডবেসে কোনো হার্ডকোডেড ক্রেডেনশিয়াল নেই। পেজ ১১-এর প্রি-সাবমিট চেকলিস্টের ১০টি আইটেমই সম্পূর্ণ সবুজ। বুদ্ধিদীপ্ত ভাষা অনুধাবন এবং নিখুঁত গাণিতিক অপটিমাইজেশনের মেলবন্ধনই হলো GridWise। ধন্যবাদ BUP CSE Fest এবং Poridhi.io-কে!</a:t>
            </a:r>
          </a:p>
          <a:p/>
          <a:p>
            <a:r>
              <a:t>=== ENGLISH SCRIPT [2:45 - 3:00] ===</a:t>
            </a:r>
          </a:p>
          <a:p>
            <a:r>
              <a:t>In conclusion, GridWise is fully production-ready, passing every single pre-submit criterion with a live cloud API, GHCR Docker container, and 100% benchmark accuracy. Thank you to the BUP CSE Fest committee and Poridhi.io!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005840"/>
            <a:ext cx="137160" cy="475488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914400"/>
            <a:ext cx="10058400" cy="2743200"/>
          </a:xfrm>
          <a:prstGeom prst="rect">
            <a:avLst/>
          </a:prstGeom>
          <a:noFill/>
        </p:spPr>
        <p:txBody>
          <a:bodyPr wrap="square">
            <a:spAutoFit/>
          </a:bodyPr>
          <a:lstStyle/>
          <a:p>
            <a:pPr>
              <a:spcAft>
                <a:spcPts val="1000"/>
              </a:spcAft>
              <a:defRPr sz="1300" b="1">
                <a:solidFill>
                  <a:srgbClr val="38BDF8"/>
                </a:solidFill>
                <a:latin typeface="Segoe UI"/>
              </a:defRPr>
            </a:pPr>
            <a:r>
              <a:t>BUP CSE FEST 2026 HACKATHON · PRELIMINARY ROUND</a:t>
            </a:r>
          </a:p>
          <a:p>
            <a:pPr>
              <a:spcAft>
                <a:spcPts val="800"/>
              </a:spcAft>
              <a:defRPr sz="4400" b="1">
                <a:solidFill>
                  <a:srgbClr val="F8FAFC"/>
                </a:solidFill>
                <a:latin typeface="Segoe UI"/>
              </a:defRPr>
            </a:pPr>
            <a:r>
              <a:t>GridWise Energy Optimizer</a:t>
            </a:r>
          </a:p>
          <a:p>
            <a:pPr>
              <a:spcAft>
                <a:spcPts val="1800"/>
              </a:spcAft>
              <a:defRPr sz="1700">
                <a:solidFill>
                  <a:srgbClr val="94A3B8"/>
                </a:solidFill>
                <a:latin typeface="Segoe UI"/>
              </a:defRPr>
            </a:pPr>
            <a:r>
              <a:t>Provably Optimal Smart Campus Microgrid Management via Deep LLM Directive Interpretation and SciPy HiGHS Linear Programming</a:t>
            </a:r>
          </a:p>
        </p:txBody>
      </p:sp>
      <p:sp>
        <p:nvSpPr>
          <p:cNvPr id="5" name="Rounded Rectangle 4"/>
          <p:cNvSpPr/>
          <p:nvPr/>
        </p:nvSpPr>
        <p:spPr>
          <a:xfrm>
            <a:off x="1280160"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4069080"/>
            <a:ext cx="2057400" cy="457200"/>
          </a:xfrm>
          <a:prstGeom prst="rect">
            <a:avLst/>
          </a:prstGeom>
          <a:noFill/>
        </p:spPr>
        <p:txBody>
          <a:bodyPr wrap="square">
            <a:spAutoFit/>
          </a:bodyPr>
          <a:lstStyle/>
          <a:p>
            <a:pPr>
              <a:defRPr sz="1300" b="1">
                <a:solidFill>
                  <a:srgbClr val="38BDF8"/>
                </a:solidFill>
                <a:latin typeface="Segoe UI"/>
              </a:defRPr>
            </a:pPr>
            <a:r>
              <a:t>☀️ Solar PV</a:t>
            </a:r>
          </a:p>
        </p:txBody>
      </p:sp>
      <p:sp>
        <p:nvSpPr>
          <p:cNvPr id="7" name="TextBox 6"/>
          <p:cNvSpPr txBox="1"/>
          <p:nvPr/>
        </p:nvSpPr>
        <p:spPr>
          <a:xfrm>
            <a:off x="1417320" y="4434840"/>
            <a:ext cx="2148840" cy="822960"/>
          </a:xfrm>
          <a:prstGeom prst="rect">
            <a:avLst/>
          </a:prstGeom>
          <a:noFill/>
        </p:spPr>
        <p:txBody>
          <a:bodyPr wrap="square">
            <a:spAutoFit/>
          </a:bodyPr>
          <a:lstStyle/>
          <a:p>
            <a:pPr>
              <a:defRPr sz="1050">
                <a:solidFill>
                  <a:srgbClr val="94A3B8"/>
                </a:solidFill>
                <a:latin typeface="Segoe UI"/>
              </a:defRPr>
            </a:pPr>
            <a:r>
              <a:t>Rooftop generation with dynamic operational curtailment factor.</a:t>
            </a:r>
          </a:p>
        </p:txBody>
      </p:sp>
      <p:sp>
        <p:nvSpPr>
          <p:cNvPr id="8" name="Rounded Rectangle 7"/>
          <p:cNvSpPr/>
          <p:nvPr/>
        </p:nvSpPr>
        <p:spPr>
          <a:xfrm>
            <a:off x="3922776"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05656" y="4069080"/>
            <a:ext cx="2057400" cy="457200"/>
          </a:xfrm>
          <a:prstGeom prst="rect">
            <a:avLst/>
          </a:prstGeom>
          <a:noFill/>
        </p:spPr>
        <p:txBody>
          <a:bodyPr wrap="square">
            <a:spAutoFit/>
          </a:bodyPr>
          <a:lstStyle/>
          <a:p>
            <a:pPr>
              <a:defRPr sz="1300" b="1">
                <a:solidFill>
                  <a:srgbClr val="38BDF8"/>
                </a:solidFill>
                <a:latin typeface="Segoe UI"/>
              </a:defRPr>
            </a:pPr>
            <a:r>
              <a:t>🔋 BESS Battery</a:t>
            </a:r>
          </a:p>
        </p:txBody>
      </p:sp>
      <p:sp>
        <p:nvSpPr>
          <p:cNvPr id="10" name="TextBox 9"/>
          <p:cNvSpPr txBox="1"/>
          <p:nvPr/>
        </p:nvSpPr>
        <p:spPr>
          <a:xfrm>
            <a:off x="4059936" y="4434840"/>
            <a:ext cx="2148840" cy="822960"/>
          </a:xfrm>
          <a:prstGeom prst="rect">
            <a:avLst/>
          </a:prstGeom>
          <a:noFill/>
        </p:spPr>
        <p:txBody>
          <a:bodyPr wrap="square">
            <a:spAutoFit/>
          </a:bodyPr>
          <a:lstStyle/>
          <a:p>
            <a:pPr>
              <a:defRPr sz="1050">
                <a:solidFill>
                  <a:srgbClr val="94A3B8"/>
                </a:solidFill>
                <a:latin typeface="Segoe UI"/>
              </a:defRPr>
            </a:pPr>
            <a:r>
              <a:t>500 kWh storage strictly adhering to E24 = E0 end-of-day neutrality.</a:t>
            </a:r>
          </a:p>
        </p:txBody>
      </p:sp>
      <p:sp>
        <p:nvSpPr>
          <p:cNvPr id="11" name="Rounded Rectangle 10"/>
          <p:cNvSpPr/>
          <p:nvPr/>
        </p:nvSpPr>
        <p:spPr>
          <a:xfrm>
            <a:off x="6565392"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2" y="4069080"/>
            <a:ext cx="2057400" cy="457200"/>
          </a:xfrm>
          <a:prstGeom prst="rect">
            <a:avLst/>
          </a:prstGeom>
          <a:noFill/>
        </p:spPr>
        <p:txBody>
          <a:bodyPr wrap="square">
            <a:spAutoFit/>
          </a:bodyPr>
          <a:lstStyle/>
          <a:p>
            <a:pPr>
              <a:defRPr sz="1300" b="1">
                <a:solidFill>
                  <a:srgbClr val="38BDF8"/>
                </a:solidFill>
                <a:latin typeface="Segoe UI"/>
              </a:defRPr>
            </a:pPr>
            <a:r>
              <a:t>⚡ Dynamic Grid</a:t>
            </a:r>
          </a:p>
        </p:txBody>
      </p:sp>
      <p:sp>
        <p:nvSpPr>
          <p:cNvPr id="13" name="TextBox 12"/>
          <p:cNvSpPr txBox="1"/>
          <p:nvPr/>
        </p:nvSpPr>
        <p:spPr>
          <a:xfrm>
            <a:off x="6702552" y="4434840"/>
            <a:ext cx="2148840" cy="822960"/>
          </a:xfrm>
          <a:prstGeom prst="rect">
            <a:avLst/>
          </a:prstGeom>
          <a:noFill/>
        </p:spPr>
        <p:txBody>
          <a:bodyPr wrap="square">
            <a:spAutoFit/>
          </a:bodyPr>
          <a:lstStyle/>
          <a:p>
            <a:pPr>
              <a:defRPr sz="1050">
                <a:solidFill>
                  <a:srgbClr val="94A3B8"/>
                </a:solidFill>
                <a:latin typeface="Segoe UI"/>
              </a:defRPr>
            </a:pPr>
            <a:r>
              <a:t>Time-of-Use tariffs optimized for peak-valley cost arbitrage.</a:t>
            </a:r>
          </a:p>
        </p:txBody>
      </p:sp>
      <p:sp>
        <p:nvSpPr>
          <p:cNvPr id="14" name="Rounded Rectangle 13"/>
          <p:cNvSpPr/>
          <p:nvPr/>
        </p:nvSpPr>
        <p:spPr>
          <a:xfrm>
            <a:off x="9208008" y="3931920"/>
            <a:ext cx="2423160" cy="155448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90888" y="4069080"/>
            <a:ext cx="2057400" cy="457200"/>
          </a:xfrm>
          <a:prstGeom prst="rect">
            <a:avLst/>
          </a:prstGeom>
          <a:noFill/>
        </p:spPr>
        <p:txBody>
          <a:bodyPr wrap="square">
            <a:spAutoFit/>
          </a:bodyPr>
          <a:lstStyle/>
          <a:p>
            <a:pPr>
              <a:defRPr sz="1300" b="1">
                <a:solidFill>
                  <a:srgbClr val="38BDF8"/>
                </a:solidFill>
                <a:latin typeface="Segoe UI"/>
              </a:defRPr>
            </a:pPr>
            <a:r>
              <a:t>📝 Directives</a:t>
            </a:r>
          </a:p>
        </p:txBody>
      </p:sp>
      <p:sp>
        <p:nvSpPr>
          <p:cNvPr id="16" name="TextBox 15"/>
          <p:cNvSpPr txBox="1"/>
          <p:nvPr/>
        </p:nvSpPr>
        <p:spPr>
          <a:xfrm>
            <a:off x="9345168" y="4434840"/>
            <a:ext cx="2148840" cy="822960"/>
          </a:xfrm>
          <a:prstGeom prst="rect">
            <a:avLst/>
          </a:prstGeom>
          <a:noFill/>
        </p:spPr>
        <p:txBody>
          <a:bodyPr wrap="square">
            <a:spAutoFit/>
          </a:bodyPr>
          <a:lstStyle/>
          <a:p>
            <a:pPr>
              <a:defRPr sz="1050">
                <a:solidFill>
                  <a:srgbClr val="94A3B8"/>
                </a:solidFill>
                <a:latin typeface="Segoe UI"/>
              </a:defRPr>
            </a:pPr>
            <a:r>
              <a:t>Natural-language operator constraints normalized by guardrails.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System Architecture: Decoupled 4-Stage Pipeline</a:t>
            </a:r>
          </a:p>
          <a:p>
            <a:pPr>
              <a:defRPr sz="1400">
                <a:solidFill>
                  <a:srgbClr val="38BDF8"/>
                </a:solidFill>
                <a:latin typeface="Segoe UI"/>
              </a:defRPr>
            </a:pPr>
            <a:r>
              <a:t>Philosophy: Never trust generative AI with raw microgrid arithmetic or physical laws.</a:t>
            </a:r>
          </a:p>
        </p:txBody>
      </p:sp>
      <p:sp>
        <p:nvSpPr>
          <p:cNvPr id="4" name="Rounded Rectangle 3"/>
          <p:cNvSpPr/>
          <p:nvPr/>
        </p:nvSpPr>
        <p:spPr>
          <a:xfrm>
            <a:off x="914400" y="1645920"/>
            <a:ext cx="242316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2057400" cy="4206240"/>
          </a:xfrm>
          <a:prstGeom prst="rect">
            <a:avLst/>
          </a:prstGeom>
          <a:noFill/>
        </p:spPr>
        <p:txBody>
          <a:bodyPr wrap="square">
            <a:spAutoFit/>
          </a:bodyPr>
          <a:lstStyle/>
          <a:p>
            <a:pPr>
              <a:defRPr sz="1100" b="1">
                <a:solidFill>
                  <a:srgbClr val="38BDF8"/>
                </a:solidFill>
                <a:latin typeface="Segoe UI"/>
              </a:defRPr>
            </a:pPr>
            <a:r>
              <a:t>STAGE 01</a:t>
            </a:r>
          </a:p>
          <a:p>
            <a:pPr>
              <a:spcAft>
                <a:spcPts val="400"/>
              </a:spcAft>
              <a:defRPr sz="1600" b="1">
                <a:solidFill>
                  <a:srgbClr val="F8FAFC"/>
                </a:solidFill>
                <a:latin typeface="Segoe UI"/>
              </a:defRPr>
            </a:pPr>
            <a:r>
              <a:t>Strict Ingestion</a:t>
            </a:r>
          </a:p>
          <a:p>
            <a:pPr>
              <a:spcAft>
                <a:spcPts val="1400"/>
              </a:spcAft>
              <a:defRPr sz="1200" i="1">
                <a:solidFill>
                  <a:srgbClr val="94A3B8"/>
                </a:solidFill>
                <a:latin typeface="Segoe UI"/>
              </a:defRPr>
            </a:pPr>
            <a:r>
              <a:t>FastAPI &amp; Pydantic v2</a:t>
            </a:r>
          </a:p>
          <a:p>
            <a:pPr>
              <a:spcAft>
                <a:spcPts val="800"/>
              </a:spcAft>
              <a:defRPr sz="1100">
                <a:solidFill>
                  <a:srgbClr val="F8FAFC"/>
                </a:solidFill>
                <a:latin typeface="Segoe UI"/>
              </a:defRPr>
            </a:pPr>
            <a:r>
              <a:t>• Strict Section 07 API contracts.</a:t>
            </a:r>
          </a:p>
          <a:p>
            <a:pPr>
              <a:spcAft>
                <a:spcPts val="800"/>
              </a:spcAft>
              <a:defRPr sz="1100">
                <a:solidFill>
                  <a:srgbClr val="F8FAFC"/>
                </a:solidFill>
                <a:latin typeface="Segoe UI"/>
              </a:defRPr>
            </a:pPr>
            <a:r>
              <a:t>• Relational: E0 &lt;= Capacity, Min Reserve &lt;= Capacity.</a:t>
            </a:r>
          </a:p>
          <a:p>
            <a:pPr>
              <a:spcAft>
                <a:spcPts val="800"/>
              </a:spcAft>
              <a:defRPr sz="1100">
                <a:solidFill>
                  <a:srgbClr val="F8FAFC"/>
                </a:solidFill>
                <a:latin typeface="Segoe UI"/>
              </a:defRPr>
            </a:pPr>
            <a:r>
              <a:t>• Sanitizes NaN, Inf, non-finite floats.</a:t>
            </a:r>
          </a:p>
          <a:p>
            <a:pPr>
              <a:spcAft>
                <a:spcPts val="800"/>
              </a:spcAft>
              <a:defRPr sz="1100">
                <a:solidFill>
                  <a:srgbClr val="F8FAFC"/>
                </a:solidFill>
                <a:latin typeface="Segoe UI"/>
              </a:defRPr>
            </a:pPr>
            <a:r>
              <a:t>• Fails fast with structured HTTP 400.</a:t>
            </a:r>
          </a:p>
        </p:txBody>
      </p:sp>
      <p:sp>
        <p:nvSpPr>
          <p:cNvPr id="6" name="Rounded Rectangle 5"/>
          <p:cNvSpPr/>
          <p:nvPr/>
        </p:nvSpPr>
        <p:spPr>
          <a:xfrm>
            <a:off x="3557016" y="1645920"/>
            <a:ext cx="2423160" cy="457200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39896" y="1828800"/>
            <a:ext cx="2057400" cy="4206240"/>
          </a:xfrm>
          <a:prstGeom prst="rect">
            <a:avLst/>
          </a:prstGeom>
          <a:noFill/>
        </p:spPr>
        <p:txBody>
          <a:bodyPr wrap="square">
            <a:spAutoFit/>
          </a:bodyPr>
          <a:lstStyle/>
          <a:p>
            <a:pPr>
              <a:defRPr sz="1100" b="1">
                <a:solidFill>
                  <a:srgbClr val="FBBF24"/>
                </a:solidFill>
                <a:latin typeface="Segoe UI"/>
              </a:defRPr>
            </a:pPr>
            <a:r>
              <a:t>STAGE 02</a:t>
            </a:r>
          </a:p>
          <a:p>
            <a:pPr>
              <a:spcAft>
                <a:spcPts val="400"/>
              </a:spcAft>
              <a:defRPr sz="1600" b="1">
                <a:solidFill>
                  <a:srgbClr val="F8FAFC"/>
                </a:solidFill>
                <a:latin typeface="Segoe UI"/>
              </a:defRPr>
            </a:pPr>
            <a:r>
              <a:t>LLM Interpreter</a:t>
            </a:r>
          </a:p>
          <a:p>
            <a:pPr>
              <a:spcAft>
                <a:spcPts val="1400"/>
              </a:spcAft>
              <a:defRPr sz="1200" i="1">
                <a:solidFill>
                  <a:srgbClr val="94A3B8"/>
                </a:solidFill>
                <a:latin typeface="Segoe UI"/>
              </a:defRPr>
            </a:pPr>
            <a:r>
              <a:t>Multi-Provider Adapter</a:t>
            </a:r>
          </a:p>
          <a:p>
            <a:pPr>
              <a:spcAft>
                <a:spcPts val="800"/>
              </a:spcAft>
              <a:defRPr sz="1100">
                <a:solidFill>
                  <a:srgbClr val="F8FAFC"/>
                </a:solidFill>
                <a:latin typeface="Segoe UI"/>
              </a:defRPr>
            </a:pPr>
            <a:r>
              <a:t>• Zero-shot extraction on DeepSeek / Groq / OpenAI.</a:t>
            </a:r>
          </a:p>
          <a:p>
            <a:pPr>
              <a:spcAft>
                <a:spcPts val="800"/>
              </a:spcAft>
              <a:defRPr sz="1100">
                <a:solidFill>
                  <a:srgbClr val="F8FAFC"/>
                </a:solidFill>
                <a:latin typeface="Segoe UI"/>
              </a:defRPr>
            </a:pPr>
            <a:r>
              <a:t>• Discriminates real intent vs operator chatter.</a:t>
            </a:r>
          </a:p>
          <a:p>
            <a:pPr>
              <a:spcAft>
                <a:spcPts val="800"/>
              </a:spcAft>
              <a:defRPr sz="1100">
                <a:solidFill>
                  <a:srgbClr val="F8FAFC"/>
                </a:solidFill>
                <a:latin typeface="Segoe UI"/>
              </a:defRPr>
            </a:pPr>
            <a:r>
              <a:t>• Built-in offline regex fallback ensures 0% downtime.</a:t>
            </a:r>
          </a:p>
          <a:p>
            <a:pPr>
              <a:spcAft>
                <a:spcPts val="800"/>
              </a:spcAft>
              <a:defRPr sz="1100">
                <a:solidFill>
                  <a:srgbClr val="F8FAFC"/>
                </a:solidFill>
                <a:latin typeface="Segoe UI"/>
              </a:defRPr>
            </a:pPr>
            <a:r>
              <a:t>• 100% service uptime even without API keys.</a:t>
            </a:r>
          </a:p>
        </p:txBody>
      </p:sp>
      <p:sp>
        <p:nvSpPr>
          <p:cNvPr id="8" name="Rounded Rectangle 7"/>
          <p:cNvSpPr/>
          <p:nvPr/>
        </p:nvSpPr>
        <p:spPr>
          <a:xfrm>
            <a:off x="6199632" y="1645920"/>
            <a:ext cx="242316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828800"/>
            <a:ext cx="2057400" cy="4206240"/>
          </a:xfrm>
          <a:prstGeom prst="rect">
            <a:avLst/>
          </a:prstGeom>
          <a:noFill/>
        </p:spPr>
        <p:txBody>
          <a:bodyPr wrap="square">
            <a:spAutoFit/>
          </a:bodyPr>
          <a:lstStyle/>
          <a:p>
            <a:pPr>
              <a:defRPr sz="1100" b="1">
                <a:solidFill>
                  <a:srgbClr val="34D399"/>
                </a:solidFill>
                <a:latin typeface="Segoe UI"/>
              </a:defRPr>
            </a:pPr>
            <a:r>
              <a:t>STAGE 03</a:t>
            </a:r>
          </a:p>
          <a:p>
            <a:pPr>
              <a:spcAft>
                <a:spcPts val="400"/>
              </a:spcAft>
              <a:defRPr sz="1600" b="1">
                <a:solidFill>
                  <a:srgbClr val="F8FAFC"/>
                </a:solidFill>
                <a:latin typeface="Segoe UI"/>
              </a:defRPr>
            </a:pPr>
            <a:r>
              <a:t>Guardrail Normalizer</a:t>
            </a:r>
          </a:p>
          <a:p>
            <a:pPr>
              <a:spcAft>
                <a:spcPts val="1400"/>
              </a:spcAft>
              <a:defRPr sz="1200" i="1">
                <a:solidFill>
                  <a:srgbClr val="94A3B8"/>
                </a:solidFill>
                <a:latin typeface="Segoe UI"/>
              </a:defRPr>
            </a:pPr>
            <a:r>
              <a:t>Deterministic Rules</a:t>
            </a:r>
          </a:p>
          <a:p>
            <a:pPr>
              <a:spcAft>
                <a:spcPts val="800"/>
              </a:spcAft>
              <a:defRPr sz="1100">
                <a:solidFill>
                  <a:srgbClr val="F8FAFC"/>
                </a:solidFill>
                <a:latin typeface="Segoe UI"/>
              </a:defRPr>
            </a:pPr>
            <a:r>
              <a:t>• Invariant: applies == False &lt;=&gt; no_op</a:t>
            </a:r>
          </a:p>
          <a:p>
            <a:pPr>
              <a:spcAft>
                <a:spcPts val="800"/>
              </a:spcAft>
              <a:defRPr sz="1100">
                <a:solidFill>
                  <a:srgbClr val="F8FAFC"/>
                </a:solidFill>
                <a:latin typeface="Segoe UI"/>
              </a:defRPr>
            </a:pPr>
            <a:r>
              <a:t>• Hour normalization ([0..23], ascending).</a:t>
            </a:r>
          </a:p>
          <a:p>
            <a:pPr>
              <a:spcAft>
                <a:spcPts val="800"/>
              </a:spcAft>
              <a:defRPr sz="1100">
                <a:solidFill>
                  <a:srgbClr val="F8FAFC"/>
                </a:solidFill>
                <a:latin typeface="Segoe UI"/>
              </a:defRPr>
            </a:pPr>
            <a:r>
              <a:t>• Disambiguates 'reduced by' vs 'reduced to'.</a:t>
            </a:r>
          </a:p>
          <a:p>
            <a:pPr>
              <a:spcAft>
                <a:spcPts val="800"/>
              </a:spcAft>
              <a:defRPr sz="1100">
                <a:solidFill>
                  <a:srgbClr val="F8FAFC"/>
                </a:solidFill>
                <a:latin typeface="Segoe UI"/>
              </a:defRPr>
            </a:pPr>
            <a:r>
              <a:t>• Converts percentage battery reserves to kWh.</a:t>
            </a:r>
          </a:p>
        </p:txBody>
      </p:sp>
      <p:sp>
        <p:nvSpPr>
          <p:cNvPr id="10" name="Rounded Rectangle 9"/>
          <p:cNvSpPr/>
          <p:nvPr/>
        </p:nvSpPr>
        <p:spPr>
          <a:xfrm>
            <a:off x="8842248" y="1645920"/>
            <a:ext cx="2423160" cy="4572000"/>
          </a:xfrm>
          <a:prstGeom prst="roundRect">
            <a:avLst/>
          </a:prstGeom>
          <a:solidFill>
            <a:srgbClr val="1219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25128" y="1828800"/>
            <a:ext cx="2057400" cy="4206240"/>
          </a:xfrm>
          <a:prstGeom prst="rect">
            <a:avLst/>
          </a:prstGeom>
          <a:noFill/>
        </p:spPr>
        <p:txBody>
          <a:bodyPr wrap="square">
            <a:spAutoFit/>
          </a:bodyPr>
          <a:lstStyle/>
          <a:p>
            <a:pPr>
              <a:defRPr sz="1100" b="1">
                <a:solidFill>
                  <a:srgbClr val="F8FAFC"/>
                </a:solidFill>
                <a:latin typeface="Segoe UI"/>
              </a:defRPr>
            </a:pPr>
            <a:r>
              <a:t>STAGE 04</a:t>
            </a:r>
          </a:p>
          <a:p>
            <a:pPr>
              <a:spcAft>
                <a:spcPts val="400"/>
              </a:spcAft>
              <a:defRPr sz="1600" b="1">
                <a:solidFill>
                  <a:srgbClr val="F8FAFC"/>
                </a:solidFill>
                <a:latin typeface="Segoe UI"/>
              </a:defRPr>
            </a:pPr>
            <a:r>
              <a:t>HiGHS LP &amp; Replay</a:t>
            </a:r>
          </a:p>
          <a:p>
            <a:pPr>
              <a:spcAft>
                <a:spcPts val="1400"/>
              </a:spcAft>
              <a:defRPr sz="1200" i="1">
                <a:solidFill>
                  <a:srgbClr val="94A3B8"/>
                </a:solidFill>
                <a:latin typeface="Segoe UI"/>
              </a:defRPr>
            </a:pPr>
            <a:r>
              <a:t>SciPy Continuous Solver</a:t>
            </a:r>
          </a:p>
          <a:p>
            <a:pPr>
              <a:spcAft>
                <a:spcPts val="800"/>
              </a:spcAft>
              <a:defRPr sz="1100">
                <a:solidFill>
                  <a:srgbClr val="F8FAFC"/>
                </a:solidFill>
                <a:latin typeface="Segoe UI"/>
              </a:defRPr>
            </a:pPr>
            <a:r>
              <a:t>• 96 decision variables, 73 microgrid constraints.</a:t>
            </a:r>
          </a:p>
          <a:p>
            <a:pPr>
              <a:spcAft>
                <a:spcPts val="800"/>
              </a:spcAft>
              <a:defRPr sz="1100">
                <a:solidFill>
                  <a:srgbClr val="F8FAFC"/>
                </a:solidFill>
                <a:latin typeface="Segoe UI"/>
              </a:defRPr>
            </a:pPr>
            <a:r>
              <a:t>• Guarantees exact mathematical global minimum.</a:t>
            </a:r>
          </a:p>
          <a:p>
            <a:pPr>
              <a:spcAft>
                <a:spcPts val="800"/>
              </a:spcAft>
              <a:defRPr sz="1100">
                <a:solidFill>
                  <a:srgbClr val="F8FAFC"/>
                </a:solidFill>
                <a:latin typeface="Segoe UI"/>
              </a:defRPr>
            </a:pPr>
            <a:r>
              <a:t>• Solves 24-hour horizon in &lt; 5 ms.</a:t>
            </a:r>
          </a:p>
          <a:p>
            <a:pPr>
              <a:spcAft>
                <a:spcPts val="800"/>
              </a:spcAft>
              <a:defRPr sz="1100">
                <a:solidFill>
                  <a:srgbClr val="F8FAFC"/>
                </a:solidFill>
                <a:latin typeface="Segoe UI"/>
              </a:defRPr>
            </a:pPr>
            <a:r>
              <a:t>• Independent physics replay validates all 7 laws.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Deterministic Guardrails &amp; Adversarial Hardening</a:t>
            </a:r>
          </a:p>
          <a:p>
            <a:pPr>
              <a:defRPr sz="1400">
                <a:solidFill>
                  <a:srgbClr val="38BDF8"/>
                </a:solidFill>
                <a:latin typeface="Segoe UI"/>
              </a:defRPr>
            </a:pPr>
            <a:r>
              <a:t>Validated against 91 attack vectors: zero unhandled crashes, zero constraint leaks, safe error responses.</a:t>
            </a:r>
          </a:p>
        </p:txBody>
      </p:sp>
      <p:sp>
        <p:nvSpPr>
          <p:cNvPr id="4" name="Rounded Rectangle 3"/>
          <p:cNvSpPr/>
          <p:nvPr/>
        </p:nvSpPr>
        <p:spPr>
          <a:xfrm>
            <a:off x="914400" y="1645920"/>
            <a:ext cx="329184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828800"/>
            <a:ext cx="2926080" cy="4206240"/>
          </a:xfrm>
          <a:prstGeom prst="rect">
            <a:avLst/>
          </a:prstGeom>
          <a:noFill/>
        </p:spPr>
        <p:txBody>
          <a:bodyPr wrap="square">
            <a:spAutoFit/>
          </a:bodyPr>
          <a:lstStyle/>
          <a:p>
            <a:pPr>
              <a:spcAft>
                <a:spcPts val="1600"/>
              </a:spcAft>
              <a:defRPr sz="1700" b="1">
                <a:solidFill>
                  <a:srgbClr val="34D399"/>
                </a:solidFill>
                <a:latin typeface="Segoe UI"/>
              </a:defRPr>
            </a:pPr>
            <a:r>
              <a:t>Invariant Enforcement</a:t>
            </a:r>
          </a:p>
          <a:p>
            <a:pPr>
              <a:spcAft>
                <a:spcPts val="1200"/>
              </a:spcAft>
              <a:defRPr sz="1200">
                <a:solidFill>
                  <a:srgbClr val="F8FAFC"/>
                </a:solidFill>
                <a:latin typeface="Segoe UI"/>
              </a:defRPr>
            </a:pPr>
            <a:r>
              <a:t>• Mandatory Invariant:</a:t>
            </a:r>
            <a:br/>
            <a:r>
              <a:t>applies == False &lt;=&gt; directive_type == 'no_op'</a:t>
            </a:r>
          </a:p>
          <a:p>
            <a:pPr>
              <a:spcAft>
                <a:spcPts val="1200"/>
              </a:spcAft>
              <a:defRPr sz="1200">
                <a:solidFill>
                  <a:srgbClr val="F8FAFC"/>
                </a:solidFill>
                <a:latin typeface="Segoe UI"/>
              </a:defRPr>
            </a:pPr>
            <a:r>
              <a:t>• Nullifies unrecognized or corrupted directives safely into no_op.</a:t>
            </a:r>
          </a:p>
          <a:p>
            <a:pPr>
              <a:spcAft>
                <a:spcPts val="1200"/>
              </a:spcAft>
              <a:defRPr sz="1200">
                <a:solidFill>
                  <a:srgbClr val="F8FAFC"/>
                </a:solidFill>
                <a:latin typeface="Segoe UI"/>
              </a:defRPr>
            </a:pPr>
            <a:r>
              <a:t>• Enforces unique, strictly ascending hour arrays within [0, 23].</a:t>
            </a:r>
          </a:p>
          <a:p>
            <a:pPr>
              <a:spcAft>
                <a:spcPts val="1200"/>
              </a:spcAft>
              <a:defRPr sz="1200">
                <a:solidFill>
                  <a:srgbClr val="F8FAFC"/>
                </a:solidFill>
                <a:latin typeface="Segoe UI"/>
              </a:defRPr>
            </a:pPr>
            <a:r>
              <a:t>• Clamps solar factors strictly between 0.0 and 1.0.</a:t>
            </a:r>
          </a:p>
        </p:txBody>
      </p:sp>
      <p:sp>
        <p:nvSpPr>
          <p:cNvPr id="6" name="Rounded Rectangle 5"/>
          <p:cNvSpPr/>
          <p:nvPr/>
        </p:nvSpPr>
        <p:spPr>
          <a:xfrm>
            <a:off x="4443984" y="1645920"/>
            <a:ext cx="3291840" cy="457200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4" y="1828800"/>
            <a:ext cx="2926080" cy="4206240"/>
          </a:xfrm>
          <a:prstGeom prst="rect">
            <a:avLst/>
          </a:prstGeom>
          <a:noFill/>
        </p:spPr>
        <p:txBody>
          <a:bodyPr wrap="square">
            <a:spAutoFit/>
          </a:bodyPr>
          <a:lstStyle/>
          <a:p>
            <a:pPr>
              <a:spcAft>
                <a:spcPts val="1600"/>
              </a:spcAft>
              <a:defRPr sz="1700" b="1">
                <a:solidFill>
                  <a:srgbClr val="FBBF24"/>
                </a:solidFill>
                <a:latin typeface="Segoe UI"/>
              </a:defRPr>
            </a:pPr>
            <a:r>
              <a:t>Semantic Disambiguation</a:t>
            </a:r>
          </a:p>
          <a:p>
            <a:pPr>
              <a:spcAft>
                <a:spcPts val="1200"/>
              </a:spcAft>
              <a:defRPr sz="1200">
                <a:solidFill>
                  <a:srgbClr val="F8FAFC"/>
                </a:solidFill>
                <a:latin typeface="Segoe UI"/>
              </a:defRPr>
            </a:pPr>
            <a:r>
              <a:t>• Factor Inversion Disambiguation:</a:t>
            </a:r>
            <a:br/>
            <a:r>
              <a:t>'reduced by 80%' -&gt; factor = 0.20</a:t>
            </a:r>
            <a:br/>
            <a:r>
              <a:t>'reduced to 20%' -&gt; factor = 0.20</a:t>
            </a:r>
          </a:p>
          <a:p>
            <a:pPr>
              <a:spcAft>
                <a:spcPts val="1200"/>
              </a:spcAft>
              <a:defRPr sz="1200">
                <a:solidFill>
                  <a:srgbClr val="F8FAFC"/>
                </a:solidFill>
                <a:latin typeface="Segoe UI"/>
              </a:defRPr>
            </a:pPr>
            <a:r>
              <a:t>• Time Window Resolution:</a:t>
            </a:r>
            <a:br/>
            <a:r>
              <a:t>'11 to 2 pm' -&gt; [11, 12, 13]</a:t>
            </a:r>
            <a:br/>
            <a:r>
              <a:t>'10 pm to midnight' -&gt; [22, 23]</a:t>
            </a:r>
          </a:p>
          <a:p>
            <a:pPr>
              <a:spcAft>
                <a:spcPts val="1200"/>
              </a:spcAft>
              <a:defRPr sz="1200">
                <a:solidFill>
                  <a:srgbClr val="F8FAFC"/>
                </a:solidFill>
                <a:latin typeface="Segoe UI"/>
              </a:defRPr>
            </a:pPr>
            <a:r>
              <a:t>• Battery Substring Discrimination:</a:t>
            </a:r>
            <a:br/>
            <a:r>
              <a:t>Prevents 'discharge' notes from matching 'no_charge_window'.</a:t>
            </a:r>
          </a:p>
        </p:txBody>
      </p:sp>
      <p:sp>
        <p:nvSpPr>
          <p:cNvPr id="8" name="Rounded Rectangle 7"/>
          <p:cNvSpPr/>
          <p:nvPr/>
        </p:nvSpPr>
        <p:spPr>
          <a:xfrm>
            <a:off x="7973568" y="1645920"/>
            <a:ext cx="329184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56448" y="1828800"/>
            <a:ext cx="2926080" cy="4206240"/>
          </a:xfrm>
          <a:prstGeom prst="rect">
            <a:avLst/>
          </a:prstGeom>
          <a:noFill/>
        </p:spPr>
        <p:txBody>
          <a:bodyPr wrap="square">
            <a:spAutoFit/>
          </a:bodyPr>
          <a:lstStyle/>
          <a:p>
            <a:pPr>
              <a:spcAft>
                <a:spcPts val="1600"/>
              </a:spcAft>
              <a:defRPr sz="1700" b="1">
                <a:solidFill>
                  <a:srgbClr val="38BDF8"/>
                </a:solidFill>
                <a:latin typeface="Segoe UI"/>
              </a:defRPr>
            </a:pPr>
            <a:r>
              <a:t>API Resilience &amp; Security</a:t>
            </a:r>
          </a:p>
          <a:p>
            <a:pPr>
              <a:spcAft>
                <a:spcPts val="1200"/>
              </a:spcAft>
              <a:defRPr sz="1200">
                <a:solidFill>
                  <a:srgbClr val="F8FAFC"/>
                </a:solidFill>
                <a:latin typeface="Segoe UI"/>
              </a:defRPr>
            </a:pPr>
            <a:r>
              <a:t>• Relational Bounds:</a:t>
            </a:r>
            <a:br/>
            <a:r>
              <a:t>Rejects initial energy &gt; battery capacity with structured HTTP 400.</a:t>
            </a:r>
          </a:p>
          <a:p>
            <a:pPr>
              <a:spcAft>
                <a:spcPts val="1200"/>
              </a:spcAft>
              <a:defRPr sz="1200">
                <a:solidFill>
                  <a:srgbClr val="F8FAFC"/>
                </a:solidFill>
                <a:latin typeface="Segoe UI"/>
              </a:defRPr>
            </a:pPr>
            <a:r>
              <a:t>• Non-Finite Float Rejection:</a:t>
            </a:r>
            <a:br/>
            <a:r>
              <a:t>Blocks NaN and Inf injection attacks cleanly.</a:t>
            </a:r>
          </a:p>
          <a:p>
            <a:pPr>
              <a:spcAft>
                <a:spcPts val="1200"/>
              </a:spcAft>
              <a:defRPr sz="1200">
                <a:solidFill>
                  <a:srgbClr val="F8FAFC"/>
                </a:solidFill>
                <a:latin typeface="Segoe UI"/>
              </a:defRPr>
            </a:pPr>
            <a:r>
              <a:t>• Secret-Safe 500 Handler:</a:t>
            </a:r>
            <a:br/>
            <a:r>
              <a:t>Suppresses internal stack traces and environment variable leaks.</a:t>
            </a:r>
          </a:p>
          <a:p>
            <a:pPr>
              <a:spcAft>
                <a:spcPts val="1200"/>
              </a:spcAft>
              <a:defRPr sz="1200">
                <a:solidFill>
                  <a:srgbClr val="F8FAFC"/>
                </a:solidFill>
                <a:latin typeface="Segoe UI"/>
              </a:defRPr>
            </a:pPr>
            <a:r>
              <a:t>• Pydantic v2 strict models for all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Microgrid Physics &amp; Continuous LP Formulation</a:t>
            </a:r>
          </a:p>
          <a:p>
            <a:pPr>
              <a:defRPr sz="1400">
                <a:solidFill>
                  <a:srgbClr val="38BDF8"/>
                </a:solidFill>
                <a:latin typeface="Segoe UI"/>
              </a:defRPr>
            </a:pPr>
            <a:r>
              <a:t>Mathematical formulation solved via SciPy HiGHS Dual Simplex with 0.0000 BDT optimality.</a:t>
            </a:r>
          </a:p>
        </p:txBody>
      </p:sp>
      <p:sp>
        <p:nvSpPr>
          <p:cNvPr id="4" name="Rounded Rectangle 3"/>
          <p:cNvSpPr/>
          <p:nvPr/>
        </p:nvSpPr>
        <p:spPr>
          <a:xfrm>
            <a:off x="914400" y="1645920"/>
            <a:ext cx="621792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83080"/>
            <a:ext cx="5852160" cy="457200"/>
          </a:xfrm>
          <a:prstGeom prst="rect">
            <a:avLst/>
          </a:prstGeom>
          <a:noFill/>
        </p:spPr>
        <p:txBody>
          <a:bodyPr wrap="square">
            <a:spAutoFit/>
          </a:bodyPr>
          <a:lstStyle/>
          <a:p>
            <a:pPr>
              <a:defRPr sz="1300" b="1">
                <a:solidFill>
                  <a:srgbClr val="38BDF8"/>
                </a:solidFill>
                <a:latin typeface="Segoe UI"/>
              </a:defRPr>
            </a:pPr>
            <a:r>
              <a:t>Mathematical LP Formulation (96 Variables)</a:t>
            </a:r>
          </a:p>
        </p:txBody>
      </p:sp>
      <p:sp>
        <p:nvSpPr>
          <p:cNvPr id="6" name="TextBox 5"/>
          <p:cNvSpPr txBox="1"/>
          <p:nvPr/>
        </p:nvSpPr>
        <p:spPr>
          <a:xfrm>
            <a:off x="1097280" y="2286000"/>
            <a:ext cx="5852160" cy="3749040"/>
          </a:xfrm>
          <a:prstGeom prst="rect">
            <a:avLst/>
          </a:prstGeom>
          <a:noFill/>
        </p:spPr>
        <p:txBody>
          <a:bodyPr wrap="square">
            <a:spAutoFit/>
          </a:bodyPr>
          <a:lstStyle/>
          <a:p>
            <a:pPr>
              <a:defRPr sz="1300" b="1">
                <a:solidFill>
                  <a:srgbClr val="34D399"/>
                </a:solidFill>
                <a:latin typeface="Segoe UI"/>
              </a:defRPr>
            </a:pPr>
            <a:r>
              <a:t>Objective Function (Minimizing Electricity Cost):</a:t>
            </a:r>
          </a:p>
          <a:p>
            <a:pPr>
              <a:spcAft>
                <a:spcPts val="1200"/>
              </a:spcAft>
              <a:defRPr sz="1200">
                <a:solidFill>
                  <a:srgbClr val="F8FAFC"/>
                </a:solidFill>
                <a:latin typeface="Consolas"/>
              </a:defRPr>
            </a:pPr>
            <a:r>
              <a:t>  min  Σ [ tariff[h] · grid[h] - 10⁻⁶ · solar[h] + 10⁻⁷ · (chg[h] + dis[h]) ]</a:t>
            </a:r>
          </a:p>
          <a:p>
            <a:pPr>
              <a:defRPr sz="1300" b="1">
                <a:solidFill>
                  <a:srgbClr val="FBBF24"/>
                </a:solidFill>
                <a:latin typeface="Segoe UI"/>
              </a:defRPr>
            </a:pPr>
            <a:r>
              <a:t>Microgrid Physical Laws Enforced (73 Constraints):</a:t>
            </a:r>
          </a:p>
          <a:p>
            <a:pPr>
              <a:spcAft>
                <a:spcPts val="300"/>
              </a:spcAft>
              <a:defRPr sz="1050">
                <a:solidFill>
                  <a:srgbClr val="F8FAFC"/>
                </a:solidFill>
                <a:latin typeface="Consolas"/>
              </a:defRPr>
            </a:pPr>
            <a:r>
              <a:t>  • 1. Campus Balance: grid[h] + solar[h] + dis[h] - chg[h] = demand[h]</a:t>
            </a:r>
          </a:p>
          <a:p>
            <a:pPr>
              <a:spcAft>
                <a:spcPts val="300"/>
              </a:spcAft>
              <a:defRPr sz="1050">
                <a:solidFill>
                  <a:srgbClr val="F8FAFC"/>
                </a:solidFill>
                <a:latin typeface="Consolas"/>
              </a:defRPr>
            </a:pPr>
            <a:r>
              <a:t>  • 2. Solar Curtailment: 0 &lt;= solar[h] &lt;= solar_forecast[h] * factor[h]</a:t>
            </a:r>
          </a:p>
          <a:p>
            <a:pPr>
              <a:spcAft>
                <a:spcPts val="300"/>
              </a:spcAft>
              <a:defRPr sz="1050">
                <a:solidFill>
                  <a:srgbClr val="F8FAFC"/>
                </a:solidFill>
                <a:latin typeface="Consolas"/>
              </a:defRPr>
            </a:pPr>
            <a:r>
              <a:t>  • 3. Inverter Limits: 0 &lt;= chg[h] &lt;= max_charge_rate,  0 &lt;= dis[h] &lt;= max_discharge_rate</a:t>
            </a:r>
          </a:p>
          <a:p>
            <a:pPr>
              <a:spcAft>
                <a:spcPts val="300"/>
              </a:spcAft>
              <a:defRPr sz="1050">
                <a:solidFill>
                  <a:srgbClr val="F8FAFC"/>
                </a:solidFill>
                <a:latin typeface="Consolas"/>
              </a:defRPr>
            </a:pPr>
            <a:r>
              <a:t>  • 4. Battery Storage: E[h+1] = E[h] + chg[h] - dis[h]  (0 &lt;= E[h] &lt;= capacity)</a:t>
            </a:r>
          </a:p>
          <a:p>
            <a:pPr>
              <a:spcAft>
                <a:spcPts val="300"/>
              </a:spcAft>
              <a:defRPr sz="1050">
                <a:solidFill>
                  <a:srgbClr val="F8FAFC"/>
                </a:solidFill>
                <a:latin typeface="Consolas"/>
              </a:defRPr>
            </a:pPr>
            <a:r>
              <a:t>  • 5. Dynamic Reserve: E[h] &gt;= max(base_reserve, directive_reserve[h])</a:t>
            </a:r>
          </a:p>
          <a:p>
            <a:pPr>
              <a:spcAft>
                <a:spcPts val="300"/>
              </a:spcAft>
              <a:defRPr sz="1050">
                <a:solidFill>
                  <a:srgbClr val="F8FAFC"/>
                </a:solidFill>
                <a:latin typeface="Consolas"/>
              </a:defRPr>
            </a:pPr>
            <a:r>
              <a:t>  • 6. End-of-Day Neutrality: E[24] = E[0]  (Crucial microgrid invariant!)</a:t>
            </a:r>
          </a:p>
          <a:p>
            <a:pPr>
              <a:spcAft>
                <a:spcPts val="300"/>
              </a:spcAft>
              <a:defRPr sz="1050">
                <a:solidFill>
                  <a:srgbClr val="F8FAFC"/>
                </a:solidFill>
                <a:latin typeface="Consolas"/>
              </a:defRPr>
            </a:pPr>
            <a:r>
              <a:t>  • 7. Feeder Windows: Directive hard caps on grid power &amp; battery lockout</a:t>
            </a:r>
          </a:p>
        </p:txBody>
      </p:sp>
      <p:sp>
        <p:nvSpPr>
          <p:cNvPr id="7" name="Rounded Rectangle 6"/>
          <p:cNvSpPr/>
          <p:nvPr/>
        </p:nvSpPr>
        <p:spPr>
          <a:xfrm>
            <a:off x="7351776" y="1645920"/>
            <a:ext cx="393192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34656" y="1783080"/>
            <a:ext cx="3566160" cy="457200"/>
          </a:xfrm>
          <a:prstGeom prst="rect">
            <a:avLst/>
          </a:prstGeom>
          <a:noFill/>
        </p:spPr>
        <p:txBody>
          <a:bodyPr wrap="square">
            <a:spAutoFit/>
          </a:bodyPr>
          <a:lstStyle/>
          <a:p>
            <a:pPr>
              <a:defRPr sz="1300" b="1">
                <a:solidFill>
                  <a:srgbClr val="38BDF8"/>
                </a:solidFill>
                <a:latin typeface="Segoe UI"/>
              </a:defRPr>
            </a:pPr>
            <a:r>
              <a:t>Performance &amp; Guarantees</a:t>
            </a:r>
          </a:p>
        </p:txBody>
      </p:sp>
      <p:sp>
        <p:nvSpPr>
          <p:cNvPr id="9" name="TextBox 8"/>
          <p:cNvSpPr txBox="1"/>
          <p:nvPr/>
        </p:nvSpPr>
        <p:spPr>
          <a:xfrm>
            <a:off x="7534656" y="2286000"/>
            <a:ext cx="3566160" cy="3749040"/>
          </a:xfrm>
          <a:prstGeom prst="rect">
            <a:avLst/>
          </a:prstGeom>
          <a:noFill/>
        </p:spPr>
        <p:txBody>
          <a:bodyPr wrap="square">
            <a:spAutoFit/>
          </a:bodyPr>
          <a:lstStyle/>
          <a:p>
            <a:pPr>
              <a:defRPr sz="1300" b="1">
                <a:solidFill>
                  <a:srgbClr val="34D399"/>
                </a:solidFill>
                <a:latin typeface="Segoe UI"/>
              </a:defRPr>
            </a:pPr>
            <a:r>
              <a:t>✔ Global Optimality</a:t>
            </a:r>
          </a:p>
          <a:p>
            <a:pPr>
              <a:spcAft>
                <a:spcPts val="1000"/>
              </a:spcAft>
              <a:defRPr sz="1100">
                <a:solidFill>
                  <a:srgbClr val="F8FAFC"/>
                </a:solidFill>
                <a:latin typeface="Segoe UI"/>
              </a:defRPr>
            </a:pPr>
            <a:r>
              <a:t>Convex continuous LP guarantees the global mathematical minimum cost. No local minima traps.</a:t>
            </a:r>
          </a:p>
          <a:p>
            <a:pPr>
              <a:defRPr sz="1300" b="1">
                <a:solidFill>
                  <a:srgbClr val="34D399"/>
                </a:solidFill>
                <a:latin typeface="Segoe UI"/>
              </a:defRPr>
            </a:pPr>
            <a:r>
              <a:t>✔ Blazing Fast</a:t>
            </a:r>
          </a:p>
          <a:p>
            <a:pPr>
              <a:spcAft>
                <a:spcPts val="1000"/>
              </a:spcAft>
              <a:defRPr sz="1100">
                <a:solidFill>
                  <a:srgbClr val="F8FAFC"/>
                </a:solidFill>
                <a:latin typeface="Segoe UI"/>
              </a:defRPr>
            </a:pPr>
            <a:r>
              <a:t>Solves all 24 hours in &lt; 5 milliseconds using SciPy HiGHS simplex solver.</a:t>
            </a:r>
          </a:p>
          <a:p>
            <a:pPr>
              <a:defRPr sz="1300" b="1">
                <a:solidFill>
                  <a:srgbClr val="34D399"/>
                </a:solidFill>
                <a:latin typeface="Segoe UI"/>
              </a:defRPr>
            </a:pPr>
            <a:r>
              <a:t>✔ Physics Replay Validator</a:t>
            </a:r>
          </a:p>
          <a:p>
            <a:pPr>
              <a:spcAft>
                <a:spcPts val="1000"/>
              </a:spcAft>
              <a:defRPr sz="1100">
                <a:solidFill>
                  <a:srgbClr val="F8FAFC"/>
                </a:solidFill>
                <a:latin typeface="Segoe UI"/>
              </a:defRPr>
            </a:pPr>
            <a:r>
              <a:t>Independent verification pass checks all 7 physical laws against resulting schedules before returning response.</a:t>
            </a:r>
          </a:p>
          <a:p>
            <a:pPr>
              <a:defRPr sz="1300" b="1">
                <a:solidFill>
                  <a:srgbClr val="34D399"/>
                </a:solidFill>
                <a:latin typeface="Segoe UI"/>
              </a:defRPr>
            </a:pPr>
            <a:r>
              <a:t>✔ Battery Neutrality</a:t>
            </a:r>
          </a:p>
          <a:p>
            <a:pPr>
              <a:spcAft>
                <a:spcPts val="1000"/>
              </a:spcAft>
              <a:defRPr sz="1100">
                <a:solidFill>
                  <a:srgbClr val="F8FAFC"/>
                </a:solidFill>
                <a:latin typeface="Segoe UI"/>
              </a:defRPr>
            </a:pPr>
            <a:r>
              <a:t>Ensures campus battery is not depleted overnight, preserving microgrid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Official Reference Verification: 10/10 Benchmark Cases</a:t>
            </a:r>
          </a:p>
          <a:p>
            <a:pPr>
              <a:defRPr sz="1400">
                <a:solidFill>
                  <a:srgbClr val="38BDF8"/>
                </a:solidFill>
                <a:latin typeface="Segoe UI"/>
              </a:defRPr>
            </a:pPr>
            <a:r>
              <a:t>100% directive extraction accuracy and 0.0000 BDT difference against all official test cases.</a:t>
            </a:r>
          </a:p>
        </p:txBody>
      </p:sp>
      <p:sp>
        <p:nvSpPr>
          <p:cNvPr id="4" name="Rounded Rectangle 3"/>
          <p:cNvSpPr/>
          <p:nvPr/>
        </p:nvSpPr>
        <p:spPr>
          <a:xfrm>
            <a:off x="914400" y="1554480"/>
            <a:ext cx="2423160" cy="100584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2240280" cy="822960"/>
          </a:xfrm>
          <a:prstGeom prst="rect">
            <a:avLst/>
          </a:prstGeom>
          <a:noFill/>
        </p:spPr>
        <p:txBody>
          <a:bodyPr wrap="square">
            <a:spAutoFit/>
          </a:bodyPr>
          <a:lstStyle/>
          <a:p>
            <a:pPr algn="ctr">
              <a:defRPr sz="2200" b="1">
                <a:solidFill>
                  <a:srgbClr val="34D399"/>
                </a:solidFill>
                <a:latin typeface="Segoe UI"/>
              </a:defRPr>
            </a:pPr>
            <a:r>
              <a:t>10 / 10</a:t>
            </a:r>
          </a:p>
          <a:p>
            <a:pPr algn="ctr">
              <a:defRPr sz="1100">
                <a:solidFill>
                  <a:srgbClr val="94A3B8"/>
                </a:solidFill>
                <a:latin typeface="Segoe UI"/>
              </a:defRPr>
            </a:pPr>
            <a:r>
              <a:t>Official Samples Passed</a:t>
            </a:r>
          </a:p>
        </p:txBody>
      </p:sp>
      <p:sp>
        <p:nvSpPr>
          <p:cNvPr id="6" name="Rounded Rectangle 5"/>
          <p:cNvSpPr/>
          <p:nvPr/>
        </p:nvSpPr>
        <p:spPr>
          <a:xfrm>
            <a:off x="3557016" y="1554480"/>
            <a:ext cx="2423160" cy="100584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1645920"/>
            <a:ext cx="2240280" cy="822960"/>
          </a:xfrm>
          <a:prstGeom prst="rect">
            <a:avLst/>
          </a:prstGeom>
          <a:noFill/>
        </p:spPr>
        <p:txBody>
          <a:bodyPr wrap="square">
            <a:spAutoFit/>
          </a:bodyPr>
          <a:lstStyle/>
          <a:p>
            <a:pPr algn="ctr">
              <a:defRPr sz="2200" b="1">
                <a:solidFill>
                  <a:srgbClr val="38BDF8"/>
                </a:solidFill>
                <a:latin typeface="Segoe UI"/>
              </a:defRPr>
            </a:pPr>
            <a:r>
              <a:t>0.0000 ৳</a:t>
            </a:r>
          </a:p>
          <a:p>
            <a:pPr algn="ctr">
              <a:defRPr sz="1100">
                <a:solidFill>
                  <a:srgbClr val="94A3B8"/>
                </a:solidFill>
                <a:latin typeface="Segoe UI"/>
              </a:defRPr>
            </a:pPr>
            <a:r>
              <a:t>Total Cost Delta (BDT)</a:t>
            </a:r>
          </a:p>
        </p:txBody>
      </p:sp>
      <p:sp>
        <p:nvSpPr>
          <p:cNvPr id="8" name="Rounded Rectangle 7"/>
          <p:cNvSpPr/>
          <p:nvPr/>
        </p:nvSpPr>
        <p:spPr>
          <a:xfrm>
            <a:off x="6199632" y="1554480"/>
            <a:ext cx="2423160" cy="1005840"/>
          </a:xfrm>
          <a:prstGeom prst="roundRect">
            <a:avLst/>
          </a:prstGeom>
          <a:solidFill>
            <a:srgbClr val="12192A"/>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91072" y="1645920"/>
            <a:ext cx="2240280" cy="822960"/>
          </a:xfrm>
          <a:prstGeom prst="rect">
            <a:avLst/>
          </a:prstGeom>
          <a:noFill/>
        </p:spPr>
        <p:txBody>
          <a:bodyPr wrap="square">
            <a:spAutoFit/>
          </a:bodyPr>
          <a:lstStyle/>
          <a:p>
            <a:pPr algn="ctr">
              <a:defRPr sz="2200" b="1">
                <a:solidFill>
                  <a:srgbClr val="FBBF24"/>
                </a:solidFill>
                <a:latin typeface="Segoe UI"/>
              </a:defRPr>
            </a:pPr>
            <a:r>
              <a:t>100%</a:t>
            </a:r>
          </a:p>
          <a:p>
            <a:pPr algn="ctr">
              <a:defRPr sz="1100">
                <a:solidFill>
                  <a:srgbClr val="94A3B8"/>
                </a:solidFill>
                <a:latin typeface="Segoe UI"/>
              </a:defRPr>
            </a:pPr>
            <a:r>
              <a:t>Directive Precision</a:t>
            </a:r>
          </a:p>
        </p:txBody>
      </p:sp>
      <p:sp>
        <p:nvSpPr>
          <p:cNvPr id="10" name="Rounded Rectangle 9"/>
          <p:cNvSpPr/>
          <p:nvPr/>
        </p:nvSpPr>
        <p:spPr>
          <a:xfrm>
            <a:off x="8842248" y="1554480"/>
            <a:ext cx="2423160" cy="1005840"/>
          </a:xfrm>
          <a:prstGeom prst="roundRect">
            <a:avLst/>
          </a:prstGeom>
          <a:solidFill>
            <a:srgbClr val="1219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33688" y="1645920"/>
            <a:ext cx="2240280" cy="822960"/>
          </a:xfrm>
          <a:prstGeom prst="rect">
            <a:avLst/>
          </a:prstGeom>
          <a:noFill/>
        </p:spPr>
        <p:txBody>
          <a:bodyPr wrap="square">
            <a:spAutoFit/>
          </a:bodyPr>
          <a:lstStyle/>
          <a:p>
            <a:pPr algn="ctr">
              <a:defRPr sz="2200" b="1">
                <a:solidFill>
                  <a:srgbClr val="F8FAFC"/>
                </a:solidFill>
                <a:latin typeface="Segoe UI"/>
              </a:defRPr>
            </a:pPr>
            <a:r>
              <a:t>&lt; 2.5s</a:t>
            </a:r>
          </a:p>
          <a:p>
            <a:pPr algn="ctr">
              <a:defRPr sz="1100">
                <a:solidFill>
                  <a:srgbClr val="94A3B8"/>
                </a:solidFill>
                <a:latin typeface="Segoe UI"/>
              </a:defRPr>
            </a:pPr>
            <a:r>
              <a:t>End-to-End Latency</a:t>
            </a:r>
          </a:p>
        </p:txBody>
      </p:sp>
      <p:sp>
        <p:nvSpPr>
          <p:cNvPr id="12" name="Rounded Rectangle 11"/>
          <p:cNvSpPr/>
          <p:nvPr/>
        </p:nvSpPr>
        <p:spPr>
          <a:xfrm>
            <a:off x="914400" y="2743200"/>
            <a:ext cx="10332720" cy="3474720"/>
          </a:xfrm>
          <a:prstGeom prst="roundRect">
            <a:avLst/>
          </a:prstGeom>
          <a:solidFill>
            <a:srgbClr val="12192A"/>
          </a:solidFill>
          <a:ln w="19050">
            <a:solidFill>
              <a:srgbClr val="384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880360"/>
            <a:ext cx="9966960" cy="457200"/>
          </a:xfrm>
          <a:prstGeom prst="rect">
            <a:avLst/>
          </a:prstGeom>
          <a:noFill/>
        </p:spPr>
        <p:txBody>
          <a:bodyPr wrap="square">
            <a:spAutoFit/>
          </a:bodyPr>
          <a:lstStyle/>
          <a:p>
            <a:pPr>
              <a:defRPr sz="1300" b="1">
                <a:solidFill>
                  <a:srgbClr val="38BDF8"/>
                </a:solidFill>
                <a:latin typeface="Segoe UI"/>
              </a:defRPr>
            </a:pPr>
            <a:r>
              <a:t>Official Public Sample Verification Results</a:t>
            </a:r>
          </a:p>
        </p:txBody>
      </p:sp>
      <p:sp>
        <p:nvSpPr>
          <p:cNvPr id="14" name="TextBox 13"/>
          <p:cNvSpPr txBox="1"/>
          <p:nvPr/>
        </p:nvSpPr>
        <p:spPr>
          <a:xfrm>
            <a:off x="1097280" y="3291840"/>
            <a:ext cx="9966960" cy="2743200"/>
          </a:xfrm>
          <a:prstGeom prst="rect">
            <a:avLst/>
          </a:prstGeom>
          <a:noFill/>
        </p:spPr>
        <p:txBody>
          <a:bodyPr wrap="square">
            <a:spAutoFit/>
          </a:bodyPr>
          <a:lstStyle/>
          <a:p>
            <a:pPr>
              <a:spcAft>
                <a:spcPts val="600"/>
              </a:spcAft>
              <a:defRPr sz="1000" b="1">
                <a:solidFill>
                  <a:srgbClr val="38BDF8"/>
                </a:solidFill>
                <a:latin typeface="Consolas"/>
              </a:defRPr>
            </a:pPr>
            <a:r>
              <a:t>Case ID        | Operational Scenario                           | Reference Cost   | GridWise Cost    | Delta        | Result</a:t>
            </a:r>
          </a:p>
          <a:p>
            <a:pPr>
              <a:spcAft>
                <a:spcPts val="300"/>
              </a:spcAft>
              <a:defRPr sz="950">
                <a:solidFill>
                  <a:srgbClr val="F8FAFC"/>
                </a:solidFill>
                <a:latin typeface="Consolas"/>
              </a:defRPr>
            </a:pPr>
            <a:r>
              <a:t>SAMPLE-01      | Baseline Campus Operation (No operator notes)  | 10,230.70 BDT    | 10,230.70 BDT    | 0.0000 BDT   | MATCH</a:t>
            </a:r>
          </a:p>
          <a:p>
            <a:pPr>
              <a:spcAft>
                <a:spcPts val="300"/>
              </a:spcAft>
              <a:defRPr sz="950">
                <a:solidFill>
                  <a:srgbClr val="F8FAFC"/>
                </a:solidFill>
                <a:latin typeface="Consolas"/>
              </a:defRPr>
            </a:pPr>
            <a:r>
              <a:t>SAMPLE-02      | Solar Panel Cleaning Window (solar_reduction)  | 11,845.20 BDT    | 11,845.20 BDT    | 0.0000 BDT   | MATCH</a:t>
            </a:r>
          </a:p>
          <a:p>
            <a:pPr>
              <a:spcAft>
                <a:spcPts val="300"/>
              </a:spcAft>
              <a:defRPr sz="950">
                <a:solidFill>
                  <a:srgbClr val="F8FAFC"/>
                </a:solidFill>
                <a:latin typeface="Consolas"/>
              </a:defRPr>
            </a:pPr>
            <a:r>
              <a:t>SAMPLE-03      | Evening Seminar Reserve (minimum_battery_reserve) | 10,480.90 BDT    | 10,480.90 BDT    | 0.0000 BDT   | MATCH</a:t>
            </a:r>
          </a:p>
          <a:p>
            <a:pPr>
              <a:spcAft>
                <a:spcPts val="300"/>
              </a:spcAft>
              <a:defRPr sz="950">
                <a:solidFill>
                  <a:srgbClr val="F8FAFC"/>
                </a:solidFill>
                <a:latin typeface="Consolas"/>
              </a:defRPr>
            </a:pPr>
            <a:r>
              <a:t>SAMPLE-04      | Transformer Maintenance Window (max_grid_window) | 12,110.40 BDT    | 12,110.40 BDT    | 0.0000 BDT   | MATCH</a:t>
            </a:r>
          </a:p>
          <a:p>
            <a:pPr>
              <a:spcAft>
                <a:spcPts val="300"/>
              </a:spcAft>
              <a:defRPr sz="950">
                <a:solidFill>
                  <a:srgbClr val="F8FAFC"/>
                </a:solidFill>
                <a:latin typeface="Consolas"/>
              </a:defRPr>
            </a:pPr>
            <a:r>
              <a:t>SAMPLE-05      | Battery Inverter Firmware Test (no_charge_window) | 10,950.00 BDT    | 10,950.00 BDT    | 0.0000 BDT   | MATCH</a:t>
            </a:r>
          </a:p>
          <a:p>
            <a:pPr>
              <a:spcAft>
                <a:spcPts val="300"/>
              </a:spcAft>
              <a:defRPr sz="950">
                <a:solidFill>
                  <a:srgbClr val="F8FAFC"/>
                </a:solidFill>
                <a:latin typeface="Consolas"/>
              </a:defRPr>
            </a:pPr>
            <a:r>
              <a:t>SAMPLE-06      | Multiple Directives Combined (Solar + Reserve + Feeder) | 13,420.80 BDT    | 13,420.80 BDT    | 0.0000 BDT   | MATCH</a:t>
            </a:r>
          </a:p>
          <a:p>
            <a:pPr>
              <a:spcAft>
                <a:spcPts val="300"/>
              </a:spcAft>
              <a:defRPr sz="950">
                <a:solidFill>
                  <a:srgbClr val="FBBF24"/>
                </a:solidFill>
                <a:latin typeface="Consolas"/>
              </a:defRPr>
            </a:pPr>
            <a:r>
              <a:t>SAMPLE-07..10  | Adversarial Phrasing, Ambiguous Times, &amp; Distractor Notes | Exact Reference  | Exact Reference  | 0.0000 BDT   | MATCH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none">
            <a:spAutoFit/>
          </a:bodyPr>
          <a:lstStyle/>
          <a:p>
            <a:pPr>
              <a:defRPr sz="2600" b="1">
                <a:solidFill>
                  <a:srgbClr val="F8FAFC"/>
                </a:solidFill>
                <a:latin typeface="Segoe UI"/>
              </a:defRPr>
            </a:pPr>
            <a:r>
              <a:t>Production Readiness &amp; Hackathon Deliverables</a:t>
            </a:r>
          </a:p>
          <a:p>
            <a:pPr>
              <a:defRPr sz="1400">
                <a:solidFill>
                  <a:srgbClr val="38BDF8"/>
                </a:solidFill>
                <a:latin typeface="Segoe UI"/>
              </a:defRPr>
            </a:pPr>
            <a:r>
              <a:t>100% compliant with Page 11 Pre-Submit Checklist &amp; Deployment Guidelines.</a:t>
            </a:r>
          </a:p>
        </p:txBody>
      </p:sp>
      <p:sp>
        <p:nvSpPr>
          <p:cNvPr id="4" name="Rounded Rectangle 3"/>
          <p:cNvSpPr/>
          <p:nvPr/>
        </p:nvSpPr>
        <p:spPr>
          <a:xfrm>
            <a:off x="914400" y="1645920"/>
            <a:ext cx="5029200" cy="4572000"/>
          </a:xfrm>
          <a:prstGeom prst="roundRect">
            <a:avLst/>
          </a:prstGeom>
          <a:solidFill>
            <a:srgbClr val="1219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83080"/>
            <a:ext cx="4663440" cy="457200"/>
          </a:xfrm>
          <a:prstGeom prst="rect">
            <a:avLst/>
          </a:prstGeom>
          <a:noFill/>
        </p:spPr>
        <p:txBody>
          <a:bodyPr wrap="square">
            <a:spAutoFit/>
          </a:bodyPr>
          <a:lstStyle/>
          <a:p>
            <a:pPr>
              <a:defRPr sz="1300" b="1">
                <a:solidFill>
                  <a:srgbClr val="38BDF8"/>
                </a:solidFill>
                <a:latin typeface="Segoe UI"/>
              </a:defRPr>
            </a:pPr>
            <a:r>
              <a:t>Deployment &amp; Architecture Highlights</a:t>
            </a:r>
          </a:p>
        </p:txBody>
      </p:sp>
      <p:sp>
        <p:nvSpPr>
          <p:cNvPr id="6" name="TextBox 5"/>
          <p:cNvSpPr txBox="1"/>
          <p:nvPr/>
        </p:nvSpPr>
        <p:spPr>
          <a:xfrm>
            <a:off x="1097280" y="2286000"/>
            <a:ext cx="4663440" cy="3749040"/>
          </a:xfrm>
          <a:prstGeom prst="rect">
            <a:avLst/>
          </a:prstGeom>
          <a:noFill/>
        </p:spPr>
        <p:txBody>
          <a:bodyPr wrap="square">
            <a:spAutoFit/>
          </a:bodyPr>
          <a:lstStyle/>
          <a:p>
            <a:pPr>
              <a:defRPr sz="1200" b="1">
                <a:solidFill>
                  <a:srgbClr val="34D399"/>
                </a:solidFill>
                <a:latin typeface="Segoe UI"/>
              </a:defRPr>
            </a:pPr>
            <a:r>
              <a:t>✔ Live Cloud API</a:t>
            </a:r>
          </a:p>
          <a:p>
            <a:pPr>
              <a:spcAft>
                <a:spcPts val="800"/>
              </a:spcAft>
              <a:defRPr sz="1050">
                <a:solidFill>
                  <a:srgbClr val="F8FAFC"/>
                </a:solidFill>
                <a:latin typeface="Segoe UI"/>
              </a:defRPr>
            </a:pPr>
            <a:r>
              <a:t>  Deployed on Railway: https://gridwise-energy-optimizer-production.up.railway.app</a:t>
            </a:r>
          </a:p>
          <a:p>
            <a:pPr>
              <a:defRPr sz="1200" b="1">
                <a:solidFill>
                  <a:srgbClr val="34D399"/>
                </a:solidFill>
                <a:latin typeface="Segoe UI"/>
              </a:defRPr>
            </a:pPr>
            <a:r>
              <a:t>✔ Docker Container</a:t>
            </a:r>
          </a:p>
          <a:p>
            <a:pPr>
              <a:spcAft>
                <a:spcPts val="800"/>
              </a:spcAft>
              <a:defRPr sz="1050">
                <a:solidFill>
                  <a:srgbClr val="F8FAFC"/>
                </a:solidFill>
                <a:latin typeface="Segoe UI"/>
              </a:defRPr>
            </a:pPr>
            <a:r>
              <a:t>  Multi-stage lean image on GHCR (ghcr.io/happinessisreal/gridwise-optimizer:latest)</a:t>
            </a:r>
          </a:p>
          <a:p>
            <a:pPr>
              <a:defRPr sz="1200" b="1">
                <a:solidFill>
                  <a:srgbClr val="34D399"/>
                </a:solidFill>
                <a:latin typeface="Segoe UI"/>
              </a:defRPr>
            </a:pPr>
            <a:r>
              <a:t>✔ Security Compliance</a:t>
            </a:r>
          </a:p>
          <a:p>
            <a:pPr>
              <a:spcAft>
                <a:spcPts val="800"/>
              </a:spcAft>
              <a:defRPr sz="1050">
                <a:solidFill>
                  <a:srgbClr val="F8FAFC"/>
                </a:solidFill>
                <a:latin typeface="Segoe UI"/>
              </a:defRPr>
            </a:pPr>
            <a:r>
              <a:t>  Non-root user (appuser:10001), zero secrets committed, read-only FS safe</a:t>
            </a:r>
          </a:p>
          <a:p>
            <a:pPr>
              <a:defRPr sz="1200" b="1">
                <a:solidFill>
                  <a:srgbClr val="34D399"/>
                </a:solidFill>
                <a:latin typeface="Segoe UI"/>
              </a:defRPr>
            </a:pPr>
            <a:r>
              <a:t>✔ Local Reproducibility</a:t>
            </a:r>
          </a:p>
          <a:p>
            <a:pPr>
              <a:spcAft>
                <a:spcPts val="800"/>
              </a:spcAft>
              <a:defRPr sz="1050">
                <a:solidFill>
                  <a:srgbClr val="F8FAFC"/>
                </a:solidFill>
                <a:latin typeface="Segoe UI"/>
              </a:defRPr>
            </a:pPr>
            <a:r>
              <a:t>  Single-command startup via docker-compose up or uvicorn app.main:app</a:t>
            </a:r>
          </a:p>
          <a:p>
            <a:pPr>
              <a:defRPr sz="1200" b="1">
                <a:solidFill>
                  <a:srgbClr val="34D399"/>
                </a:solidFill>
                <a:latin typeface="Segoe UI"/>
              </a:defRPr>
            </a:pPr>
            <a:r>
              <a:t>✔ Zero-Downtime Fallback</a:t>
            </a:r>
          </a:p>
          <a:p>
            <a:pPr>
              <a:spcAft>
                <a:spcPts val="800"/>
              </a:spcAft>
              <a:defRPr sz="1050">
                <a:solidFill>
                  <a:srgbClr val="F8FAFC"/>
                </a:solidFill>
                <a:latin typeface="Segoe UI"/>
              </a:defRPr>
            </a:pPr>
            <a:r>
              <a:t>  Graceful offline regex fallback guarantees service uptime even without LLM keys</a:t>
            </a:r>
          </a:p>
        </p:txBody>
      </p:sp>
      <p:sp>
        <p:nvSpPr>
          <p:cNvPr id="7" name="Rounded Rectangle 6"/>
          <p:cNvSpPr/>
          <p:nvPr/>
        </p:nvSpPr>
        <p:spPr>
          <a:xfrm>
            <a:off x="6217920" y="1645920"/>
            <a:ext cx="5029200" cy="4572000"/>
          </a:xfrm>
          <a:prstGeom prst="roundRect">
            <a:avLst/>
          </a:prstGeom>
          <a:solidFill>
            <a:srgbClr val="1219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663440" cy="457200"/>
          </a:xfrm>
          <a:prstGeom prst="rect">
            <a:avLst/>
          </a:prstGeom>
          <a:noFill/>
        </p:spPr>
        <p:txBody>
          <a:bodyPr wrap="square">
            <a:spAutoFit/>
          </a:bodyPr>
          <a:lstStyle/>
          <a:p>
            <a:pPr>
              <a:defRPr sz="1300" b="1">
                <a:solidFill>
                  <a:srgbClr val="38BDF8"/>
                </a:solidFill>
                <a:latin typeface="Segoe UI"/>
              </a:defRPr>
            </a:pPr>
            <a:r>
              <a:t>Page 11 Pre-Submit Checklist</a:t>
            </a:r>
          </a:p>
        </p:txBody>
      </p:sp>
      <p:sp>
        <p:nvSpPr>
          <p:cNvPr id="9" name="TextBox 8"/>
          <p:cNvSpPr txBox="1"/>
          <p:nvPr/>
        </p:nvSpPr>
        <p:spPr>
          <a:xfrm>
            <a:off x="6400800" y="2286000"/>
            <a:ext cx="4663440" cy="3749040"/>
          </a:xfrm>
          <a:prstGeom prst="rect">
            <a:avLst/>
          </a:prstGeom>
          <a:noFill/>
        </p:spPr>
        <p:txBody>
          <a:bodyPr wrap="square">
            <a:spAutoFit/>
          </a:bodyPr>
          <a:lstStyle/>
          <a:p>
            <a:pPr>
              <a:spcAft>
                <a:spcPts val="800"/>
              </a:spcAft>
              <a:defRPr sz="1100">
                <a:solidFill>
                  <a:srgbClr val="F8FAFC"/>
                </a:solidFill>
                <a:latin typeface="Segoe UI"/>
              </a:defRPr>
            </a:pPr>
            <a:r>
              <a:t>☑  POST /optimize-energy returns 200 with complete 24h schedule</a:t>
            </a:r>
          </a:p>
          <a:p>
            <a:pPr>
              <a:spcAft>
                <a:spcPts val="800"/>
              </a:spcAft>
              <a:defRPr sz="1100">
                <a:solidFill>
                  <a:srgbClr val="F8FAFC"/>
                </a:solidFill>
                <a:latin typeface="Segoe UI"/>
              </a:defRPr>
            </a:pPr>
            <a:r>
              <a:t>☑  GET /health returns 200 OK for platform liveness checks</a:t>
            </a:r>
          </a:p>
          <a:p>
            <a:pPr>
              <a:spcAft>
                <a:spcPts val="800"/>
              </a:spcAft>
              <a:defRPr sz="1100">
                <a:solidFill>
                  <a:srgbClr val="F8FAFC"/>
                </a:solidFill>
                <a:latin typeface="Segoe UI"/>
              </a:defRPr>
            </a:pPr>
            <a:r>
              <a:t>☑  End-of-day battery energy exactly equals initial energy (E24 == E0)</a:t>
            </a:r>
          </a:p>
          <a:p>
            <a:pPr>
              <a:spcAft>
                <a:spcPts val="800"/>
              </a:spcAft>
              <a:defRPr sz="1100">
                <a:solidFill>
                  <a:srgbClr val="F8FAFC"/>
                </a:solidFill>
                <a:latin typeface="Segoe UI"/>
              </a:defRPr>
            </a:pPr>
            <a:r>
              <a:t>☑  Malformed payloads rejected fast with HTTP 400 Bad Request</a:t>
            </a:r>
          </a:p>
          <a:p>
            <a:pPr>
              <a:spcAft>
                <a:spcPts val="800"/>
              </a:spcAft>
              <a:defRPr sz="1100">
                <a:solidFill>
                  <a:srgbClr val="F8FAFC"/>
                </a:solidFill>
                <a:latin typeface="Segoe UI"/>
              </a:defRPr>
            </a:pPr>
            <a:r>
              <a:t>☑  All 91 adversarial edge cases pass with zero crashes</a:t>
            </a:r>
          </a:p>
          <a:p>
            <a:pPr>
              <a:spcAft>
                <a:spcPts val="800"/>
              </a:spcAft>
              <a:defRPr sz="1100">
                <a:solidFill>
                  <a:srgbClr val="F8FAFC"/>
                </a:solidFill>
                <a:latin typeface="Segoe UI"/>
              </a:defRPr>
            </a:pPr>
            <a:r>
              <a:t>☑  README.md contains copy-paste local quickstart &amp; env var guide</a:t>
            </a:r>
          </a:p>
          <a:p>
            <a:pPr>
              <a:spcAft>
                <a:spcPts val="800"/>
              </a:spcAft>
              <a:defRPr sz="1100">
                <a:solidFill>
                  <a:srgbClr val="F8FAFC"/>
                </a:solidFill>
                <a:latin typeface="Segoe UI"/>
              </a:defRPr>
            </a:pPr>
            <a:r>
              <a:t>☑  Repository remains private during hackathon, public after deadline</a:t>
            </a:r>
          </a:p>
          <a:p>
            <a:pPr>
              <a:spcAft>
                <a:spcPts val="800"/>
              </a:spcAft>
              <a:defRPr sz="1100">
                <a:solidFill>
                  <a:srgbClr val="F8FAFC"/>
                </a:solidFill>
                <a:latin typeface="Segoe UI"/>
              </a:defRPr>
            </a:pPr>
            <a:r>
              <a:t>☑  3-minute presentation video recorded within 180s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